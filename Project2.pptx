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B148CE-12EB-1339-8DD2-558E5A8A4E55}" v="36" dt="2025-12-10T02:31:13.786"/>
    <p1510:client id="{9007DFFF-BC5F-CF3F-5A31-45A5B88DF5FD}" v="6" dt="2025-12-10T01:41:36.105"/>
    <p1510:client id="{C79B1107-9A16-8DE1-BE83-9B8614918F07}" v="20" dt="2025-12-10T00:34:38.77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uya Khazaeli Pour" userId="S::pkhazaelipour1@student.gsu.edu::fdf4aa83-e368-4fe1-a60d-e4bdd4356da5" providerId="AD" clId="Web-{9007DFFF-BC5F-CF3F-5A31-45A5B88DF5FD}"/>
    <pc:docChg chg="modSld">
      <pc:chgData name="Pouya Khazaeli Pour" userId="S::pkhazaelipour1@student.gsu.edu::fdf4aa83-e368-4fe1-a60d-e4bdd4356da5" providerId="AD" clId="Web-{9007DFFF-BC5F-CF3F-5A31-45A5B88DF5FD}" dt="2025-12-10T01:41:36.105" v="1"/>
      <pc:docMkLst>
        <pc:docMk/>
      </pc:docMkLst>
      <pc:sldChg chg="delSp modSp">
        <pc:chgData name="Pouya Khazaeli Pour" userId="S::pkhazaelipour1@student.gsu.edu::fdf4aa83-e368-4fe1-a60d-e4bdd4356da5" providerId="AD" clId="Web-{9007DFFF-BC5F-CF3F-5A31-45A5B88DF5FD}" dt="2025-12-10T01:41:36.105" v="1"/>
        <pc:sldMkLst>
          <pc:docMk/>
          <pc:sldMk cId="0" sldId="258"/>
        </pc:sldMkLst>
        <pc:spChg chg="del mod">
          <ac:chgData name="Pouya Khazaeli Pour" userId="S::pkhazaelipour1@student.gsu.edu::fdf4aa83-e368-4fe1-a60d-e4bdd4356da5" providerId="AD" clId="Web-{9007DFFF-BC5F-CF3F-5A31-45A5B88DF5FD}" dt="2025-12-10T01:41:36.105" v="1"/>
          <ac:spMkLst>
            <pc:docMk/>
            <pc:sldMk cId="0" sldId="258"/>
            <ac:spMk id="5" creationId="{47F21F6B-ABAD-E512-B05F-753AAC3DA8F4}"/>
          </ac:spMkLst>
        </pc:spChg>
      </pc:sldChg>
    </pc:docChg>
  </pc:docChgLst>
  <pc:docChgLst>
    <pc:chgData name="Hiba Ahsan" userId="S::hahsan1@student.gsu.edu::9ae6f6b4-fc85-49f9-a9b8-c8695ed3ca23" providerId="AD" clId="Web-{64B148CE-12EB-1339-8DD2-558E5A8A4E55}"/>
    <pc:docChg chg="modSld">
      <pc:chgData name="Hiba Ahsan" userId="S::hahsan1@student.gsu.edu::9ae6f6b4-fc85-49f9-a9b8-c8695ed3ca23" providerId="AD" clId="Web-{64B148CE-12EB-1339-8DD2-558E5A8A4E55}" dt="2025-12-10T02:31:13.786" v="19" actId="1076"/>
      <pc:docMkLst>
        <pc:docMk/>
      </pc:docMkLst>
      <pc:sldChg chg="modSp">
        <pc:chgData name="Hiba Ahsan" userId="S::hahsan1@student.gsu.edu::9ae6f6b4-fc85-49f9-a9b8-c8695ed3ca23" providerId="AD" clId="Web-{64B148CE-12EB-1339-8DD2-558E5A8A4E55}" dt="2025-12-10T01:23:12.156" v="8" actId="20577"/>
        <pc:sldMkLst>
          <pc:docMk/>
          <pc:sldMk cId="0" sldId="261"/>
        </pc:sldMkLst>
        <pc:spChg chg="mod">
          <ac:chgData name="Hiba Ahsan" userId="S::hahsan1@student.gsu.edu::9ae6f6b4-fc85-49f9-a9b8-c8695ed3ca23" providerId="AD" clId="Web-{64B148CE-12EB-1339-8DD2-558E5A8A4E55}" dt="2025-12-10T01:23:12.156" v="8" actId="20577"/>
          <ac:spMkLst>
            <pc:docMk/>
            <pc:sldMk cId="0" sldId="261"/>
            <ac:spMk id="2" creationId="{00000000-0000-0000-0000-000000000000}"/>
          </ac:spMkLst>
        </pc:spChg>
      </pc:sldChg>
      <pc:sldChg chg="modSp">
        <pc:chgData name="Hiba Ahsan" userId="S::hahsan1@student.gsu.edu::9ae6f6b4-fc85-49f9-a9b8-c8695ed3ca23" providerId="AD" clId="Web-{64B148CE-12EB-1339-8DD2-558E5A8A4E55}" dt="2025-12-10T02:31:13.786" v="19" actId="1076"/>
        <pc:sldMkLst>
          <pc:docMk/>
          <pc:sldMk cId="0" sldId="266"/>
        </pc:sldMkLst>
        <pc:picChg chg="mod">
          <ac:chgData name="Hiba Ahsan" userId="S::hahsan1@student.gsu.edu::9ae6f6b4-fc85-49f9-a9b8-c8695ed3ca23" providerId="AD" clId="Web-{64B148CE-12EB-1339-8DD2-558E5A8A4E55}" dt="2025-12-10T02:31:13.786" v="19" actId="1076"/>
          <ac:picMkLst>
            <pc:docMk/>
            <pc:sldMk cId="0" sldId="266"/>
            <ac:picMk id="3" creationId="{00000000-0000-0000-0000-000000000000}"/>
          </ac:picMkLst>
        </pc:picChg>
      </pc:sldChg>
      <pc:sldChg chg="modSp">
        <pc:chgData name="Hiba Ahsan" userId="S::hahsan1@student.gsu.edu::9ae6f6b4-fc85-49f9-a9b8-c8695ed3ca23" providerId="AD" clId="Web-{64B148CE-12EB-1339-8DD2-558E5A8A4E55}" dt="2025-12-10T02:05:49.170" v="18" actId="20577"/>
        <pc:sldMkLst>
          <pc:docMk/>
          <pc:sldMk cId="0" sldId="271"/>
        </pc:sldMkLst>
        <pc:spChg chg="mod">
          <ac:chgData name="Hiba Ahsan" userId="S::hahsan1@student.gsu.edu::9ae6f6b4-fc85-49f9-a9b8-c8695ed3ca23" providerId="AD" clId="Web-{64B148CE-12EB-1339-8DD2-558E5A8A4E55}" dt="2025-12-10T02:05:49.170" v="18" actId="20577"/>
          <ac:spMkLst>
            <pc:docMk/>
            <pc:sldMk cId="0" sldId="271"/>
            <ac:spMk id="3" creationId="{00000000-0000-0000-0000-000000000000}"/>
          </ac:spMkLst>
        </pc:spChg>
      </pc:sldChg>
      <pc:sldChg chg="modSp">
        <pc:chgData name="Hiba Ahsan" userId="S::hahsan1@student.gsu.edu::9ae6f6b4-fc85-49f9-a9b8-c8695ed3ca23" providerId="AD" clId="Web-{64B148CE-12EB-1339-8DD2-558E5A8A4E55}" dt="2025-12-10T01:30:54.398" v="12" actId="20577"/>
        <pc:sldMkLst>
          <pc:docMk/>
          <pc:sldMk cId="0" sldId="275"/>
        </pc:sldMkLst>
        <pc:spChg chg="mod">
          <ac:chgData name="Hiba Ahsan" userId="S::hahsan1@student.gsu.edu::9ae6f6b4-fc85-49f9-a9b8-c8695ed3ca23" providerId="AD" clId="Web-{64B148CE-12EB-1339-8DD2-558E5A8A4E55}" dt="2025-12-10T01:30:54.398" v="12" actId="20577"/>
          <ac:spMkLst>
            <pc:docMk/>
            <pc:sldMk cId="0" sldId="275"/>
            <ac:spMk id="11" creationId="{00000000-0000-0000-0000-000000000000}"/>
          </ac:spMkLst>
        </pc:spChg>
      </pc:sldChg>
    </pc:docChg>
  </pc:docChgLst>
  <pc:docChgLst>
    <pc:chgData name="Theresa Le" userId="S::tle167@student.gsu.edu::5bb05698-69f8-43ed-b9cc-85f94b2a8cdb" providerId="AD" clId="Web-{C79B1107-9A16-8DE1-BE83-9B8614918F07}"/>
    <pc:docChg chg="modSld">
      <pc:chgData name="Theresa Le" userId="S::tle167@student.gsu.edu::5bb05698-69f8-43ed-b9cc-85f94b2a8cdb" providerId="AD" clId="Web-{C79B1107-9A16-8DE1-BE83-9B8614918F07}" dt="2025-12-10T00:34:38.778" v="15" actId="1076"/>
      <pc:docMkLst>
        <pc:docMk/>
      </pc:docMkLst>
      <pc:sldChg chg="modSp">
        <pc:chgData name="Theresa Le" userId="S::tle167@student.gsu.edu::5bb05698-69f8-43ed-b9cc-85f94b2a8cdb" providerId="AD" clId="Web-{C79B1107-9A16-8DE1-BE83-9B8614918F07}" dt="2025-12-10T00:32:53.150" v="7" actId="1076"/>
        <pc:sldMkLst>
          <pc:docMk/>
          <pc:sldMk cId="0" sldId="257"/>
        </pc:sldMkLst>
        <pc:picChg chg="mod">
          <ac:chgData name="Theresa Le" userId="S::tle167@student.gsu.edu::5bb05698-69f8-43ed-b9cc-85f94b2a8cdb" providerId="AD" clId="Web-{C79B1107-9A16-8DE1-BE83-9B8614918F07}" dt="2025-12-10T00:32:53.150" v="7" actId="1076"/>
          <ac:picMkLst>
            <pc:docMk/>
            <pc:sldMk cId="0" sldId="257"/>
            <ac:picMk id="15" creationId="{00000000-0000-0000-0000-000000000000}"/>
          </ac:picMkLst>
        </pc:picChg>
      </pc:sldChg>
      <pc:sldChg chg="modSp">
        <pc:chgData name="Theresa Le" userId="S::tle167@student.gsu.edu::5bb05698-69f8-43ed-b9cc-85f94b2a8cdb" providerId="AD" clId="Web-{C79B1107-9A16-8DE1-BE83-9B8614918F07}" dt="2025-12-10T00:34:38.778" v="15" actId="1076"/>
        <pc:sldMkLst>
          <pc:docMk/>
          <pc:sldMk cId="0" sldId="261"/>
        </pc:sldMkLst>
        <pc:spChg chg="mod">
          <ac:chgData name="Theresa Le" userId="S::tle167@student.gsu.edu::5bb05698-69f8-43ed-b9cc-85f94b2a8cdb" providerId="AD" clId="Web-{C79B1107-9A16-8DE1-BE83-9B8614918F07}" dt="2025-12-10T00:34:38.778" v="15" actId="1076"/>
          <ac:spMkLst>
            <pc:docMk/>
            <pc:sldMk cId="0" sldId="261"/>
            <ac:spMk id="2" creationId="{00000000-0000-0000-0000-000000000000}"/>
          </ac:spMkLst>
        </pc:spChg>
      </pc:sldChg>
    </pc:docChg>
  </pc:docChgLst>
  <pc:docChgLst>
    <pc:chgData clId="Web-{9007DFFF-BC5F-CF3F-5A31-45A5B88DF5FD}"/>
    <pc:docChg chg="modSld">
      <pc:chgData name="" userId="" providerId="" clId="Web-{9007DFFF-BC5F-CF3F-5A31-45A5B88DF5FD}" dt="2025-12-10T01:41:28.199" v="1"/>
      <pc:docMkLst>
        <pc:docMk/>
      </pc:docMkLst>
      <pc:sldChg chg="addSp modSp">
        <pc:chgData name="" userId="" providerId="" clId="Web-{9007DFFF-BC5F-CF3F-5A31-45A5B88DF5FD}" dt="2025-12-10T01:41:28.199" v="1"/>
        <pc:sldMkLst>
          <pc:docMk/>
          <pc:sldMk cId="0" sldId="258"/>
        </pc:sldMkLst>
        <pc:spChg chg="add mod">
          <ac:chgData name="" userId="" providerId="" clId="Web-{9007DFFF-BC5F-CF3F-5A31-45A5B88DF5FD}" dt="2025-12-10T01:41:28.199" v="1"/>
          <ac:spMkLst>
            <pc:docMk/>
            <pc:sldMk cId="0" sldId="258"/>
            <ac:spMk id="5" creationId="{47F21F6B-ABAD-E512-B05F-753AAC3DA8F4}"/>
          </ac:spMkLst>
        </pc:spChg>
      </pc:sldChg>
    </pc:docChg>
  </pc:docChgLst>
  <pc:docChgLst>
    <pc:chgData name="Hiba Ahsan" userId="9ae6f6b4-fc85-49f9-a9b8-c8695ed3ca23" providerId="ADAL" clId="{90BFEC9A-9AD3-4BA7-9F0C-D223E16BF761}"/>
    <pc:docChg chg="modSld">
      <pc:chgData name="Hiba Ahsan" userId="9ae6f6b4-fc85-49f9-a9b8-c8695ed3ca23" providerId="ADAL" clId="{90BFEC9A-9AD3-4BA7-9F0C-D223E16BF761}" dt="2025-12-08T01:32:36.698" v="1" actId="207"/>
      <pc:docMkLst>
        <pc:docMk/>
      </pc:docMkLst>
      <pc:sldChg chg="modSp mod">
        <pc:chgData name="Hiba Ahsan" userId="9ae6f6b4-fc85-49f9-a9b8-c8695ed3ca23" providerId="ADAL" clId="{90BFEC9A-9AD3-4BA7-9F0C-D223E16BF761}" dt="2025-12-08T01:32:36.698" v="1" actId="207"/>
        <pc:sldMkLst>
          <pc:docMk/>
          <pc:sldMk cId="0" sldId="256"/>
        </pc:sldMkLst>
        <pc:spChg chg="mod">
          <ac:chgData name="Hiba Ahsan" userId="9ae6f6b4-fc85-49f9-a9b8-c8695ed3ca23" providerId="ADAL" clId="{90BFEC9A-9AD3-4BA7-9F0C-D223E16BF761}" dt="2025-12-08T01:32:36.698" v="1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Hiba Ahsan" userId="9ae6f6b4-fc85-49f9-a9b8-c8695ed3ca23" providerId="ADAL" clId="{90BFEC9A-9AD3-4BA7-9F0C-D223E16BF761}" dt="2025-12-08T01:32:33.059" v="0" actId="20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EBEF1E5-558C-E3C0-9FD1-4181415EDE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B544C5-16C4-949A-BD21-AEC1B895E6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F03090-4118-E541-BD17-A78D5FD762A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8FE4BE-D0C6-77C1-1267-6FB6076A02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68DB0-0495-7720-880E-CE51954B96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B3672-BA5E-F34D-8652-7789A3BB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222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6BAEA-240C-AF4C-8B39-01B18842361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0E0B1-5FF4-664D-AF4C-B68849E13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6041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1825" y="6400800"/>
            <a:ext cx="923925" cy="17145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0525" y="6162675"/>
            <a:ext cx="1285875" cy="4572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9425" y="1556956"/>
            <a:ext cx="10525125" cy="758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0039A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39A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E6151-59DA-424C-BD52-7BE931D913E0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0039A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39A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5A5DB-68E7-A748-BC3E-A2DD34247A89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0039A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99134" y="1444561"/>
            <a:ext cx="5314315" cy="4073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C50C2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83020" y="1440561"/>
            <a:ext cx="476186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C50C2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6D0D8-7E83-7945-BD1F-DE9881864259}" type="datetime1">
              <a:rPr lang="en-US" smtClean="0"/>
              <a:t>12/9/2025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0039A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8D59A-2ECE-8741-8F19-0F5D8B323D07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1825" y="6400800"/>
            <a:ext cx="923925" cy="17145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0525" y="6162675"/>
            <a:ext cx="1285875" cy="4572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5F55A-7F78-4C41-BDFE-1259894F7243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0525" y="6153150"/>
            <a:ext cx="1276350" cy="4572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91825" y="6400800"/>
            <a:ext cx="923925" cy="1714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6712" y="22542"/>
            <a:ext cx="11458575" cy="12807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0039A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8617" y="1768093"/>
            <a:ext cx="11315700" cy="3387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39A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2CD09-DBC4-E143-B4D1-D7AE78953D8F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7.png"/><Relationship Id="rId7" Type="http://schemas.openxmlformats.org/officeDocument/2006/relationships/image" Target="../media/image2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8.png"/><Relationship Id="rId9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b="0">
                <a:solidFill>
                  <a:schemeClr val="bg1"/>
                </a:solidFill>
                <a:latin typeface="Times New Roman"/>
                <a:cs typeface="Times New Roman"/>
              </a:rPr>
              <a:t>Predictive</a:t>
            </a:r>
            <a:r>
              <a:rPr sz="4800" b="0" spc="-15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4800" b="0">
                <a:solidFill>
                  <a:schemeClr val="bg1"/>
                </a:solidFill>
                <a:latin typeface="Times New Roman"/>
                <a:cs typeface="Times New Roman"/>
              </a:rPr>
              <a:t>Modeling</a:t>
            </a:r>
            <a:r>
              <a:rPr sz="4800" b="0" spc="-6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4800" b="0">
                <a:solidFill>
                  <a:schemeClr val="bg1"/>
                </a:solidFill>
                <a:latin typeface="Times New Roman"/>
                <a:cs typeface="Times New Roman"/>
              </a:rPr>
              <a:t>in</a:t>
            </a:r>
            <a:r>
              <a:rPr sz="4800" b="0" spc="-6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4800" b="0">
                <a:solidFill>
                  <a:schemeClr val="bg1"/>
                </a:solidFill>
                <a:latin typeface="Times New Roman"/>
                <a:cs typeface="Times New Roman"/>
              </a:rPr>
              <a:t>Employee</a:t>
            </a:r>
            <a:r>
              <a:rPr sz="4800" b="0" spc="-2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4800" b="0" spc="-10">
                <a:solidFill>
                  <a:schemeClr val="bg1"/>
                </a:solidFill>
                <a:latin typeface="Times New Roman"/>
                <a:cs typeface="Times New Roman"/>
              </a:rPr>
              <a:t>Attrition</a:t>
            </a:r>
            <a:endParaRPr sz="48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154" y="3842956"/>
            <a:ext cx="7017384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>
                <a:solidFill>
                  <a:schemeClr val="bg1"/>
                </a:solidFill>
                <a:latin typeface="Times New Roman"/>
                <a:cs typeface="Times New Roman"/>
              </a:rPr>
              <a:t>MSA</a:t>
            </a:r>
            <a:r>
              <a:rPr sz="3000" spc="-6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3000">
                <a:solidFill>
                  <a:schemeClr val="bg1"/>
                </a:solidFill>
                <a:latin typeface="Times New Roman"/>
                <a:cs typeface="Times New Roman"/>
              </a:rPr>
              <a:t>8010</a:t>
            </a:r>
            <a:r>
              <a:rPr sz="3000" spc="-3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3000">
                <a:solidFill>
                  <a:schemeClr val="bg1"/>
                </a:solidFill>
                <a:latin typeface="Times New Roman"/>
                <a:cs typeface="Times New Roman"/>
              </a:rPr>
              <a:t>:</a:t>
            </a:r>
            <a:r>
              <a:rPr sz="3000" spc="-35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3000">
                <a:solidFill>
                  <a:schemeClr val="bg1"/>
                </a:solidFill>
                <a:latin typeface="Times New Roman"/>
                <a:cs typeface="Times New Roman"/>
              </a:rPr>
              <a:t>Data</a:t>
            </a:r>
            <a:r>
              <a:rPr sz="3000" spc="-15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3000">
                <a:solidFill>
                  <a:schemeClr val="bg1"/>
                </a:solidFill>
                <a:latin typeface="Times New Roman"/>
                <a:cs typeface="Times New Roman"/>
              </a:rPr>
              <a:t>Programming</a:t>
            </a:r>
            <a:r>
              <a:rPr sz="3000" spc="-25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3000">
                <a:solidFill>
                  <a:schemeClr val="bg1"/>
                </a:solidFill>
                <a:latin typeface="Times New Roman"/>
                <a:cs typeface="Times New Roman"/>
              </a:rPr>
              <a:t>for</a:t>
            </a:r>
            <a:r>
              <a:rPr sz="3000" spc="15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3000" spc="-10">
                <a:solidFill>
                  <a:schemeClr val="bg1"/>
                </a:solidFill>
                <a:latin typeface="Times New Roman"/>
                <a:cs typeface="Times New Roman"/>
              </a:rPr>
              <a:t>Analytics</a:t>
            </a:r>
            <a:endParaRPr sz="30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19">
            <a:extLst>
              <a:ext uri="{FF2B5EF4-FFF2-40B4-BE49-F238E27FC236}">
                <a16:creationId xmlns:a16="http://schemas.microsoft.com/office/drawing/2014/main" id="{0347E988-B032-2F32-FB89-142BA75F311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144000" y="6448425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91825" y="6400800"/>
              <a:ext cx="923925" cy="1714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0525" y="6162675"/>
              <a:ext cx="1285875" cy="457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4675" y="0"/>
              <a:ext cx="5786501" cy="130962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49" rIns="0" bIns="0" rtlCol="0">
            <a:spAutoFit/>
          </a:bodyPr>
          <a:lstStyle/>
          <a:p>
            <a:pPr marL="3148965">
              <a:lnSpc>
                <a:spcPct val="100000"/>
              </a:lnSpc>
              <a:spcBef>
                <a:spcPts val="105"/>
              </a:spcBef>
            </a:pPr>
            <a:r>
              <a:rPr sz="4800">
                <a:solidFill>
                  <a:srgbClr val="ECEDEE"/>
                </a:solidFill>
              </a:rPr>
              <a:t>Team</a:t>
            </a:r>
            <a:r>
              <a:rPr sz="4800" spc="-65">
                <a:solidFill>
                  <a:srgbClr val="ECEDEE"/>
                </a:solidFill>
              </a:rPr>
              <a:t> </a:t>
            </a:r>
            <a:r>
              <a:rPr sz="4800" spc="-10">
                <a:solidFill>
                  <a:srgbClr val="ECEDEE"/>
                </a:solidFill>
              </a:rPr>
              <a:t>Introduction</a:t>
            </a:r>
            <a:endParaRPr sz="4800"/>
          </a:p>
        </p:txBody>
      </p:sp>
      <p:grpSp>
        <p:nvGrpSpPr>
          <p:cNvPr id="8" name="object 8"/>
          <p:cNvGrpSpPr/>
          <p:nvPr/>
        </p:nvGrpSpPr>
        <p:grpSpPr>
          <a:xfrm>
            <a:off x="276225" y="1609597"/>
            <a:ext cx="6701155" cy="3472179"/>
            <a:chOff x="276225" y="1609597"/>
            <a:chExt cx="6701155" cy="3472179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6225" y="1676272"/>
              <a:ext cx="2271776" cy="330047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05350" y="1609597"/>
              <a:ext cx="2271776" cy="347192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37502" y="4228782"/>
            <a:ext cx="2163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ECEDEE"/>
                </a:solidFill>
                <a:latin typeface="Arial MT"/>
                <a:cs typeface="Arial MT"/>
              </a:rPr>
              <a:t>Pouya</a:t>
            </a:r>
            <a:r>
              <a:rPr sz="1800" spc="-30">
                <a:solidFill>
                  <a:srgbClr val="ECEDEE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ECEDEE"/>
                </a:solidFill>
                <a:latin typeface="Arial MT"/>
                <a:cs typeface="Arial MT"/>
              </a:rPr>
              <a:t>Khazaeli</a:t>
            </a:r>
            <a:r>
              <a:rPr sz="1800" spc="-30">
                <a:solidFill>
                  <a:srgbClr val="ECEDEE"/>
                </a:solidFill>
                <a:latin typeface="Arial MT"/>
                <a:cs typeface="Arial MT"/>
              </a:rPr>
              <a:t> </a:t>
            </a:r>
            <a:r>
              <a:rPr sz="1800" spc="-20">
                <a:solidFill>
                  <a:srgbClr val="ECEDEE"/>
                </a:solidFill>
                <a:latin typeface="Arial MT"/>
                <a:cs typeface="Arial MT"/>
              </a:rPr>
              <a:t>Pour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9770" y="4226242"/>
            <a:ext cx="25901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ECEDEE"/>
                </a:solidFill>
                <a:latin typeface="Arial MT"/>
                <a:cs typeface="Arial MT"/>
              </a:rPr>
              <a:t>Mourya</a:t>
            </a:r>
            <a:r>
              <a:rPr sz="1800" spc="-60">
                <a:solidFill>
                  <a:srgbClr val="ECEDEE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ECEDEE"/>
                </a:solidFill>
                <a:latin typeface="Arial MT"/>
                <a:cs typeface="Arial MT"/>
              </a:rPr>
              <a:t>Bekkanur </a:t>
            </a:r>
            <a:r>
              <a:rPr sz="1800" spc="-10">
                <a:solidFill>
                  <a:srgbClr val="ECEDEE"/>
                </a:solidFill>
                <a:latin typeface="Arial MT"/>
                <a:cs typeface="Arial MT"/>
              </a:rPr>
              <a:t>Dinesh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96616" y="4228782"/>
            <a:ext cx="12103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ECEDEE"/>
                </a:solidFill>
                <a:latin typeface="Arial MT"/>
                <a:cs typeface="Arial MT"/>
              </a:rPr>
              <a:t>Hiba</a:t>
            </a:r>
            <a:r>
              <a:rPr sz="1800" spc="-15">
                <a:solidFill>
                  <a:srgbClr val="ECEDEE"/>
                </a:solidFill>
                <a:latin typeface="Arial MT"/>
                <a:cs typeface="Arial MT"/>
              </a:rPr>
              <a:t> </a:t>
            </a:r>
            <a:r>
              <a:rPr sz="1800" spc="-20">
                <a:solidFill>
                  <a:srgbClr val="ECEDEE"/>
                </a:solidFill>
                <a:latin typeface="Arial MT"/>
                <a:cs typeface="Arial MT"/>
              </a:rPr>
              <a:t>Ahsan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80531" y="1581022"/>
            <a:ext cx="9197170" cy="3510026"/>
            <a:chOff x="2380531" y="1581022"/>
            <a:chExt cx="9197170" cy="3510026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80531" y="1712215"/>
              <a:ext cx="2492108" cy="325033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24675" y="1590547"/>
              <a:ext cx="2424176" cy="35005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01150" y="1581022"/>
              <a:ext cx="2376551" cy="351002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645781" y="4226242"/>
            <a:ext cx="8096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ECEDEE"/>
                </a:solidFill>
                <a:latin typeface="Arial MT"/>
                <a:cs typeface="Arial MT"/>
              </a:rPr>
              <a:t>Tran</a:t>
            </a:r>
            <a:r>
              <a:rPr sz="1800" spc="-20">
                <a:solidFill>
                  <a:srgbClr val="ECEDEE"/>
                </a:solidFill>
                <a:latin typeface="Arial MT"/>
                <a:cs typeface="Arial MT"/>
              </a:rPr>
              <a:t> </a:t>
            </a:r>
            <a:r>
              <a:rPr sz="1800" spc="-25">
                <a:solidFill>
                  <a:srgbClr val="ECEDEE"/>
                </a:solidFill>
                <a:latin typeface="Arial MT"/>
                <a:cs typeface="Arial MT"/>
              </a:rPr>
              <a:t>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95130" y="4218622"/>
            <a:ext cx="2036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ECEDEE"/>
                </a:solidFill>
                <a:latin typeface="Arial MT"/>
                <a:cs typeface="Arial MT"/>
              </a:rPr>
              <a:t>Sumanth</a:t>
            </a:r>
            <a:r>
              <a:rPr sz="1800" spc="-30">
                <a:solidFill>
                  <a:srgbClr val="ECEDEE"/>
                </a:solidFill>
                <a:latin typeface="Arial MT"/>
                <a:cs typeface="Arial MT"/>
              </a:rPr>
              <a:t> </a:t>
            </a:r>
            <a:r>
              <a:rPr sz="1800" spc="-10">
                <a:solidFill>
                  <a:srgbClr val="ECEDEE"/>
                </a:solidFill>
                <a:latin typeface="Arial MT"/>
                <a:cs typeface="Arial MT"/>
              </a:rPr>
              <a:t>Pulagante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9701B84-1E88-CCDB-57B9-657C2F9245C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144000" y="6448425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4586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30"/>
              </a:spcBef>
            </a:pPr>
            <a:r>
              <a:t>Problem</a:t>
            </a:r>
            <a:r>
              <a:rPr spc="70"/>
              <a:t> </a:t>
            </a:r>
            <a:r>
              <a:rPr spc="-1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8817" y="2448242"/>
            <a:ext cx="10803255" cy="982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High</a:t>
            </a:r>
            <a:r>
              <a:rPr sz="2400" spc="-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employee</a:t>
            </a:r>
            <a:r>
              <a:rPr sz="2400" spc="-5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attrition</a:t>
            </a:r>
            <a:r>
              <a:rPr sz="2400" spc="-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disrupts operations and</a:t>
            </a:r>
            <a:r>
              <a:rPr sz="2400" spc="-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increases</a:t>
            </a:r>
            <a:r>
              <a:rPr sz="2400" spc="-7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recruitment</a:t>
            </a:r>
            <a:r>
              <a:rPr sz="2400" spc="-3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and</a:t>
            </a:r>
            <a:r>
              <a:rPr sz="2400" spc="-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training</a:t>
            </a:r>
            <a:r>
              <a:rPr sz="2400" spc="-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spc="-10">
                <a:solidFill>
                  <a:srgbClr val="0039A6"/>
                </a:solidFill>
                <a:latin typeface="Times New Roman"/>
                <a:cs typeface="Times New Roman"/>
              </a:rPr>
              <a:t>costs.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Traditional</a:t>
            </a:r>
            <a:r>
              <a:rPr sz="2400" spc="-3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HR</a:t>
            </a:r>
            <a:r>
              <a:rPr sz="2400" spc="-5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approaches</a:t>
            </a:r>
            <a:r>
              <a:rPr sz="2400" spc="-6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identify</a:t>
            </a:r>
            <a:r>
              <a:rPr sz="2400" spc="-2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turnover</a:t>
            </a:r>
            <a:r>
              <a:rPr sz="2400" spc="-1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risk</a:t>
            </a:r>
            <a:r>
              <a:rPr sz="2400" spc="-2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too</a:t>
            </a:r>
            <a:r>
              <a:rPr sz="2400" spc="-2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late</a:t>
            </a:r>
            <a:r>
              <a:rPr sz="2400" spc="-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for</a:t>
            </a:r>
            <a:r>
              <a:rPr sz="2400" spc="-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effective</a:t>
            </a:r>
            <a:r>
              <a:rPr sz="2400" spc="-4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spc="-10">
                <a:solidFill>
                  <a:srgbClr val="0039A6"/>
                </a:solidFill>
                <a:latin typeface="Times New Roman"/>
                <a:cs typeface="Times New Roman"/>
              </a:rPr>
              <a:t>intervention.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7E3FD-F488-3918-A33A-307E5141800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20200" y="6359524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617" y="51435"/>
            <a:ext cx="799973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Introduction</a:t>
            </a:r>
            <a:r>
              <a:rPr spc="45"/>
              <a:t> </a:t>
            </a:r>
            <a:r>
              <a:t>&amp;</a:t>
            </a:r>
            <a:r>
              <a:rPr spc="80"/>
              <a:t> </a:t>
            </a:r>
            <a:r>
              <a:t>Analytical</a:t>
            </a:r>
            <a:r>
              <a:rPr spc="35"/>
              <a:t> </a:t>
            </a:r>
            <a:r>
              <a:rPr spc="-1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2425" y="943673"/>
            <a:ext cx="7243445" cy="1753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>
                <a:solidFill>
                  <a:srgbClr val="C50C2F"/>
                </a:solidFill>
                <a:uFill>
                  <a:solidFill>
                    <a:srgbClr val="C50C2F"/>
                  </a:solidFill>
                </a:uFill>
                <a:latin typeface="Times New Roman"/>
                <a:cs typeface="Times New Roman"/>
              </a:rPr>
              <a:t>Why</a:t>
            </a:r>
            <a:r>
              <a:rPr sz="2000" b="1" u="sng" spc="-20">
                <a:solidFill>
                  <a:srgbClr val="C50C2F"/>
                </a:solidFill>
                <a:uFill>
                  <a:solidFill>
                    <a:srgbClr val="C50C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>
                <a:solidFill>
                  <a:srgbClr val="C50C2F"/>
                </a:solidFill>
                <a:uFill>
                  <a:solidFill>
                    <a:srgbClr val="C50C2F"/>
                  </a:solidFill>
                </a:uFill>
                <a:latin typeface="Times New Roman"/>
                <a:cs typeface="Times New Roman"/>
              </a:rPr>
              <a:t>It</a:t>
            </a:r>
            <a:r>
              <a:rPr sz="2000" b="1" u="sng" spc="-50">
                <a:solidFill>
                  <a:srgbClr val="C50C2F"/>
                </a:solidFill>
                <a:uFill>
                  <a:solidFill>
                    <a:srgbClr val="C50C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>
                <a:solidFill>
                  <a:srgbClr val="C50C2F"/>
                </a:solidFill>
                <a:uFill>
                  <a:solidFill>
                    <a:srgbClr val="C50C2F"/>
                  </a:solidFill>
                </a:uFill>
                <a:latin typeface="Times New Roman"/>
                <a:cs typeface="Times New Roman"/>
              </a:rPr>
              <a:t>Matters</a:t>
            </a:r>
            <a:r>
              <a:rPr sz="2000" b="1" u="sng" spc="-20">
                <a:solidFill>
                  <a:srgbClr val="C50C2F"/>
                </a:solidFill>
                <a:uFill>
                  <a:solidFill>
                    <a:srgbClr val="C50C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>
                <a:solidFill>
                  <a:srgbClr val="C50C2F"/>
                </a:solidFill>
                <a:uFill>
                  <a:solidFill>
                    <a:srgbClr val="C50C2F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2000" b="1" u="sng" spc="20">
                <a:solidFill>
                  <a:srgbClr val="C50C2F"/>
                </a:solidFill>
                <a:uFill>
                  <a:solidFill>
                    <a:srgbClr val="C50C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>
                <a:solidFill>
                  <a:srgbClr val="C50C2F"/>
                </a:solidFill>
                <a:uFill>
                  <a:solidFill>
                    <a:srgbClr val="C50C2F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2000" b="1" u="sng" spc="-50">
                <a:solidFill>
                  <a:srgbClr val="C50C2F"/>
                </a:solidFill>
                <a:uFill>
                  <a:solidFill>
                    <a:srgbClr val="C50C2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0">
                <a:solidFill>
                  <a:srgbClr val="C50C2F"/>
                </a:solidFill>
                <a:uFill>
                  <a:solidFill>
                    <a:srgbClr val="C50C2F"/>
                  </a:solidFill>
                </a:uFill>
                <a:latin typeface="Times New Roman"/>
                <a:cs typeface="Times New Roman"/>
              </a:rPr>
              <a:t>Organization?</a:t>
            </a:r>
            <a:endParaRPr sz="20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880"/>
              </a:spcBef>
              <a:buSzPct val="96774"/>
              <a:buFont typeface="Calibri"/>
              <a:buChar char="-"/>
              <a:tabLst>
                <a:tab pos="298450" algn="l"/>
              </a:tabLst>
            </a:pP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Workforce</a:t>
            </a:r>
            <a:r>
              <a:rPr sz="1550" spc="15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stability</a:t>
            </a:r>
            <a:r>
              <a:rPr sz="1550" spc="13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is</a:t>
            </a:r>
            <a:r>
              <a:rPr sz="1550" spc="7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essential</a:t>
            </a:r>
            <a:r>
              <a:rPr sz="1550" spc="10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for</a:t>
            </a:r>
            <a:r>
              <a:rPr sz="1550" spc="19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productivity</a:t>
            </a:r>
            <a:r>
              <a:rPr sz="1550" spc="1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and</a:t>
            </a:r>
            <a:r>
              <a:rPr sz="1550" spc="13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service</a:t>
            </a:r>
            <a:r>
              <a:rPr sz="1550" spc="15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spc="-10">
                <a:solidFill>
                  <a:srgbClr val="0039A6"/>
                </a:solidFill>
                <a:latin typeface="Times New Roman"/>
                <a:cs typeface="Times New Roman"/>
              </a:rPr>
              <a:t>quality.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39A6"/>
              </a:buClr>
              <a:buFont typeface="Calibri"/>
              <a:buChar char="-"/>
            </a:pPr>
            <a:endParaRPr sz="155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SzPct val="96774"/>
              <a:buFont typeface="Calibri"/>
              <a:buChar char="-"/>
              <a:tabLst>
                <a:tab pos="298450" algn="l"/>
              </a:tabLst>
            </a:pP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Early</a:t>
            </a:r>
            <a:r>
              <a:rPr sz="1550" spc="14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identification</a:t>
            </a:r>
            <a:r>
              <a:rPr sz="1550" spc="14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of</a:t>
            </a:r>
            <a:r>
              <a:rPr sz="1550" spc="20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at-risk</a:t>
            </a:r>
            <a:r>
              <a:rPr sz="1550" spc="15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employees</a:t>
            </a:r>
            <a:r>
              <a:rPr sz="1550" spc="8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enables</a:t>
            </a:r>
            <a:r>
              <a:rPr sz="1550" spc="18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targeted,</a:t>
            </a:r>
            <a:r>
              <a:rPr sz="1550" spc="17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proactive</a:t>
            </a:r>
            <a:r>
              <a:rPr sz="1550" spc="17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retention</a:t>
            </a:r>
            <a:r>
              <a:rPr sz="1550" spc="14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spc="-10">
                <a:solidFill>
                  <a:srgbClr val="0039A6"/>
                </a:solidFill>
                <a:latin typeface="Times New Roman"/>
                <a:cs typeface="Times New Roman"/>
              </a:rPr>
              <a:t>efforts.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Clr>
                <a:srgbClr val="0039A6"/>
              </a:buClr>
              <a:buFont typeface="Calibri"/>
              <a:buChar char="-"/>
            </a:pPr>
            <a:endParaRPr sz="155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SzPct val="96774"/>
              <a:buFont typeface="Calibri"/>
              <a:buChar char="-"/>
              <a:tabLst>
                <a:tab pos="298450" algn="l"/>
              </a:tabLst>
            </a:pP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Predictive</a:t>
            </a:r>
            <a:r>
              <a:rPr sz="1550" spc="2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modeling</a:t>
            </a:r>
            <a:r>
              <a:rPr sz="1550" spc="20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supports</a:t>
            </a:r>
            <a:r>
              <a:rPr sz="1550" spc="12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data-driven</a:t>
            </a:r>
            <a:r>
              <a:rPr sz="1550" spc="21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workforce</a:t>
            </a:r>
            <a:r>
              <a:rPr sz="1550" spc="229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spc="-10">
                <a:solidFill>
                  <a:srgbClr val="0039A6"/>
                </a:solidFill>
                <a:latin typeface="Times New Roman"/>
                <a:cs typeface="Times New Roman"/>
              </a:rPr>
              <a:t>planning.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2425" y="3375723"/>
            <a:ext cx="10885170" cy="12293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298450" marR="5080" indent="-286385">
              <a:lnSpc>
                <a:spcPct val="104900"/>
              </a:lnSpc>
              <a:spcBef>
                <a:spcPts val="35"/>
              </a:spcBef>
              <a:buSzPct val="96774"/>
              <a:buFont typeface="Arial MT"/>
              <a:buChar char="•"/>
              <a:tabLst>
                <a:tab pos="298450" algn="l"/>
              </a:tabLst>
            </a:pPr>
            <a:r>
              <a:rPr sz="1550" b="1">
                <a:solidFill>
                  <a:srgbClr val="C50C2F"/>
                </a:solidFill>
                <a:latin typeface="Times New Roman"/>
                <a:cs typeface="Times New Roman"/>
              </a:rPr>
              <a:t>Objective</a:t>
            </a:r>
            <a:r>
              <a:rPr sz="1550">
                <a:solidFill>
                  <a:srgbClr val="C50C2F"/>
                </a:solidFill>
                <a:latin typeface="Times New Roman"/>
                <a:cs typeface="Times New Roman"/>
              </a:rPr>
              <a:t>:</a:t>
            </a:r>
            <a:r>
              <a:rPr sz="1550" spc="155">
                <a:solidFill>
                  <a:srgbClr val="C50C2F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Enhance</a:t>
            </a:r>
            <a:r>
              <a:rPr sz="1550" spc="17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the</a:t>
            </a:r>
            <a:r>
              <a:rPr sz="1550" spc="8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employee</a:t>
            </a:r>
            <a:r>
              <a:rPr sz="1550" spc="17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attrition</a:t>
            </a:r>
            <a:r>
              <a:rPr sz="1550" spc="16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prediction</a:t>
            </a:r>
            <a:r>
              <a:rPr sz="1550" spc="15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model</a:t>
            </a:r>
            <a:r>
              <a:rPr sz="1550" spc="12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to</a:t>
            </a:r>
            <a:r>
              <a:rPr sz="1550" spc="15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achieve</a:t>
            </a:r>
            <a:r>
              <a:rPr sz="1550" spc="18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higher</a:t>
            </a:r>
            <a:r>
              <a:rPr sz="1550" spc="21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recall,</a:t>
            </a:r>
            <a:r>
              <a:rPr sz="1550" spc="8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stability,</a:t>
            </a:r>
            <a:r>
              <a:rPr sz="1550" spc="18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and</a:t>
            </a:r>
            <a:r>
              <a:rPr sz="1550" spc="16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business-ready</a:t>
            </a:r>
            <a:r>
              <a:rPr sz="1550" spc="15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spc="-10">
                <a:solidFill>
                  <a:srgbClr val="0039A6"/>
                </a:solidFill>
                <a:latin typeface="Times New Roman"/>
                <a:cs typeface="Times New Roman"/>
              </a:rPr>
              <a:t>interpretability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for</a:t>
            </a:r>
            <a:r>
              <a:rPr sz="1550" spc="12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HR</a:t>
            </a:r>
            <a:r>
              <a:rPr sz="1550" spc="17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decision-</a:t>
            </a:r>
            <a:r>
              <a:rPr sz="1550" spc="-10">
                <a:solidFill>
                  <a:srgbClr val="0039A6"/>
                </a:solidFill>
                <a:latin typeface="Times New Roman"/>
                <a:cs typeface="Times New Roman"/>
              </a:rPr>
              <a:t>making.</a:t>
            </a:r>
            <a:endParaRPr sz="1550">
              <a:latin typeface="Times New Roman"/>
              <a:cs typeface="Times New Roman"/>
            </a:endParaRPr>
          </a:p>
          <a:p>
            <a:pPr marL="298450" marR="602615" indent="-286385">
              <a:lnSpc>
                <a:spcPct val="105000"/>
              </a:lnSpc>
              <a:spcBef>
                <a:spcPts val="1725"/>
              </a:spcBef>
              <a:buSzPct val="96774"/>
              <a:buFont typeface="Arial MT"/>
              <a:buChar char="•"/>
              <a:tabLst>
                <a:tab pos="298450" algn="l"/>
              </a:tabLst>
            </a:pPr>
            <a:r>
              <a:rPr sz="1550" b="1">
                <a:solidFill>
                  <a:srgbClr val="C50C2F"/>
                </a:solidFill>
                <a:latin typeface="Times New Roman"/>
                <a:cs typeface="Times New Roman"/>
              </a:rPr>
              <a:t>Analytical</a:t>
            </a:r>
            <a:r>
              <a:rPr sz="1550" b="1" spc="85">
                <a:solidFill>
                  <a:srgbClr val="C50C2F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C50C2F"/>
                </a:solidFill>
                <a:latin typeface="Times New Roman"/>
                <a:cs typeface="Times New Roman"/>
              </a:rPr>
              <a:t>focus</a:t>
            </a:r>
            <a:r>
              <a:rPr sz="1550">
                <a:solidFill>
                  <a:srgbClr val="C50C2F"/>
                </a:solidFill>
                <a:latin typeface="Times New Roman"/>
                <a:cs typeface="Times New Roman"/>
              </a:rPr>
              <a:t>:</a:t>
            </a:r>
            <a:r>
              <a:rPr sz="1550" spc="114">
                <a:solidFill>
                  <a:srgbClr val="C50C2F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Move</a:t>
            </a:r>
            <a:r>
              <a:rPr sz="1550" spc="1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beyond</a:t>
            </a:r>
            <a:r>
              <a:rPr sz="1550" spc="114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baseline</a:t>
            </a:r>
            <a:r>
              <a:rPr sz="1550" spc="13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predictions</a:t>
            </a:r>
            <a:r>
              <a:rPr sz="1550" spc="5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to</a:t>
            </a:r>
            <a:r>
              <a:rPr sz="1550" spc="1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a</a:t>
            </a:r>
            <a:r>
              <a:rPr sz="1550" spc="13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technical</a:t>
            </a:r>
            <a:r>
              <a:rPr sz="1550" spc="9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model</a:t>
            </a:r>
            <a:r>
              <a:rPr sz="1550" spc="17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that</a:t>
            </a:r>
            <a:r>
              <a:rPr sz="1550" spc="9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HR</a:t>
            </a:r>
            <a:r>
              <a:rPr sz="1550" spc="6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can</a:t>
            </a:r>
            <a:r>
              <a:rPr sz="1550" spc="1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trust,</a:t>
            </a:r>
            <a:r>
              <a:rPr sz="1550" spc="1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understand,</a:t>
            </a:r>
            <a:r>
              <a:rPr sz="1550" spc="5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and</a:t>
            </a:r>
            <a:r>
              <a:rPr sz="1550" spc="1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act</a:t>
            </a:r>
            <a:r>
              <a:rPr sz="1550" spc="8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upon</a:t>
            </a:r>
            <a:r>
              <a:rPr sz="1550" spc="1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spc="-20">
                <a:solidFill>
                  <a:srgbClr val="0039A6"/>
                </a:solidFill>
                <a:latin typeface="Times New Roman"/>
                <a:cs typeface="Times New Roman"/>
              </a:rPr>
              <a:t>with </a:t>
            </a:r>
            <a:r>
              <a:rPr sz="1550" spc="-10">
                <a:solidFill>
                  <a:srgbClr val="0039A6"/>
                </a:solidFill>
                <a:latin typeface="Times New Roman"/>
                <a:cs typeface="Times New Roman"/>
              </a:rPr>
              <a:t>confidence.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BEEC8-C40B-2451-6DA0-7EAF6913D9B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144000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7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Datasets,</a:t>
            </a:r>
            <a:r>
              <a:rPr spc="75"/>
              <a:t> </a:t>
            </a:r>
            <a:r>
              <a:t>Descriptive</a:t>
            </a:r>
            <a:r>
              <a:rPr spc="60"/>
              <a:t> </a:t>
            </a:r>
            <a:r>
              <a:rPr spc="-10"/>
              <a:t>Statistics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8300" y="1360106"/>
            <a:ext cx="6435090" cy="41922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98450" marR="5080" indent="-28575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298450" algn="l"/>
              </a:tabLst>
            </a:pP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Dataset:</a:t>
            </a:r>
            <a:r>
              <a:rPr sz="1800" spc="-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IBM</a:t>
            </a:r>
            <a:r>
              <a:rPr sz="1800" spc="-5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HR</a:t>
            </a:r>
            <a:r>
              <a:rPr sz="1800" spc="-2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Employee</a:t>
            </a:r>
            <a:r>
              <a:rPr sz="1800" spc="-1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Attrition</a:t>
            </a:r>
            <a:r>
              <a:rPr sz="1800" spc="-3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dataset</a:t>
            </a:r>
            <a:r>
              <a:rPr sz="1800" spc="-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comprising</a:t>
            </a:r>
            <a:r>
              <a:rPr sz="1800" spc="1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039A6"/>
                </a:solidFill>
                <a:latin typeface="Times New Roman"/>
                <a:cs typeface="Times New Roman"/>
              </a:rPr>
              <a:t>1,470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employees</a:t>
            </a:r>
            <a:r>
              <a:rPr sz="1800" spc="1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with</a:t>
            </a:r>
            <a:r>
              <a:rPr sz="1800" spc="1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28</a:t>
            </a:r>
            <a:r>
              <a:rPr sz="1800" spc="-1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descriptive</a:t>
            </a:r>
            <a:r>
              <a:rPr sz="1800" spc="-7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features</a:t>
            </a:r>
            <a:r>
              <a:rPr sz="1800" spc="-4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and</a:t>
            </a:r>
            <a:r>
              <a:rPr sz="1800" spc="-1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a binary</a:t>
            </a:r>
            <a:r>
              <a:rPr sz="1800" spc="-1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target</a:t>
            </a:r>
            <a:r>
              <a:rPr sz="1800" spc="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039A6"/>
                </a:solidFill>
                <a:latin typeface="Times New Roman"/>
                <a:cs typeface="Times New Roman"/>
              </a:rPr>
              <a:t>variable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(Attrition:</a:t>
            </a:r>
            <a:r>
              <a:rPr sz="1800" spc="-6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039A6"/>
                </a:solidFill>
                <a:latin typeface="Times New Roman"/>
                <a:cs typeface="Times New Roman"/>
              </a:rPr>
              <a:t>Yes/No).</a:t>
            </a:r>
            <a:endParaRPr sz="18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820"/>
              </a:spcBef>
              <a:buSzPct val="94444"/>
              <a:buFont typeface="Arial MT"/>
              <a:buChar char="•"/>
              <a:tabLst>
                <a:tab pos="297815" algn="l"/>
              </a:tabLst>
            </a:pP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Key</a:t>
            </a:r>
            <a:r>
              <a:rPr sz="1800" spc="-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039A6"/>
                </a:solidFill>
                <a:latin typeface="Times New Roman"/>
                <a:cs typeface="Times New Roman"/>
              </a:rPr>
              <a:t>statistics:</a:t>
            </a:r>
            <a:endParaRPr sz="1800">
              <a:latin typeface="Times New Roman"/>
              <a:cs typeface="Times New Roman"/>
            </a:endParaRPr>
          </a:p>
          <a:p>
            <a:pPr marL="245110" indent="-232410">
              <a:lnSpc>
                <a:spcPct val="100000"/>
              </a:lnSpc>
              <a:spcBef>
                <a:spcPts val="1745"/>
              </a:spcBef>
              <a:buFont typeface="Arial MT"/>
              <a:buChar char="•"/>
              <a:tabLst>
                <a:tab pos="245110" algn="l"/>
              </a:tabLst>
            </a:pP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Age</a:t>
            </a:r>
            <a:r>
              <a:rPr sz="1800" spc="-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range:</a:t>
            </a:r>
            <a:r>
              <a:rPr sz="1800" spc="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18–60</a:t>
            </a:r>
            <a:r>
              <a:rPr sz="1800" spc="-3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years</a:t>
            </a:r>
            <a:r>
              <a:rPr sz="1800" spc="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(mean:</a:t>
            </a:r>
            <a:r>
              <a:rPr sz="1800" spc="-4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039A6"/>
                </a:solidFill>
                <a:latin typeface="Times New Roman"/>
                <a:cs typeface="Times New Roman"/>
              </a:rPr>
              <a:t>36.9)</a:t>
            </a:r>
            <a:endParaRPr sz="1800">
              <a:latin typeface="Times New Roman"/>
              <a:cs typeface="Times New Roman"/>
            </a:endParaRPr>
          </a:p>
          <a:p>
            <a:pPr marL="245110" marR="899794" indent="-232410">
              <a:lnSpc>
                <a:spcPct val="100800"/>
              </a:lnSpc>
              <a:spcBef>
                <a:spcPts val="1805"/>
              </a:spcBef>
              <a:buFont typeface="Arial MT"/>
              <a:buChar char="•"/>
              <a:tabLst>
                <a:tab pos="302895" algn="l"/>
              </a:tabLst>
            </a:pP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Attrition</a:t>
            </a:r>
            <a:r>
              <a:rPr sz="1800" spc="-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rate:</a:t>
            </a:r>
            <a:r>
              <a:rPr sz="1800" spc="-3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16.1%</a:t>
            </a:r>
            <a:r>
              <a:rPr sz="1800" spc="-1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(237</a:t>
            </a:r>
            <a:r>
              <a:rPr sz="1800" spc="-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departures</a:t>
            </a:r>
            <a:r>
              <a:rPr sz="1800" spc="-4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vs.</a:t>
            </a:r>
            <a:r>
              <a:rPr sz="1800" spc="1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1,233</a:t>
            </a:r>
            <a:r>
              <a:rPr sz="1800" spc="-1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retained)</a:t>
            </a:r>
            <a:r>
              <a:rPr sz="1800" spc="1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 spc="-50">
                <a:solidFill>
                  <a:srgbClr val="0039A6"/>
                </a:solidFill>
                <a:latin typeface="Times New Roman"/>
                <a:cs typeface="Times New Roman"/>
              </a:rPr>
              <a:t>- 	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significant</a:t>
            </a:r>
            <a:r>
              <a:rPr sz="1800" spc="-4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class</a:t>
            </a:r>
            <a:r>
              <a:rPr sz="1800" spc="-1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039A6"/>
                </a:solidFill>
                <a:latin typeface="Times New Roman"/>
                <a:cs typeface="Times New Roman"/>
              </a:rPr>
              <a:t>imbalance</a:t>
            </a:r>
            <a:endParaRPr sz="1800">
              <a:latin typeface="Times New Roman"/>
              <a:cs typeface="Times New Roman"/>
            </a:endParaRPr>
          </a:p>
          <a:p>
            <a:pPr marL="245745" marR="558165" indent="-233045">
              <a:lnSpc>
                <a:spcPct val="100800"/>
              </a:lnSpc>
              <a:spcBef>
                <a:spcPts val="1800"/>
              </a:spcBef>
              <a:buFont typeface="Arial MT"/>
              <a:buChar char="•"/>
              <a:tabLst>
                <a:tab pos="245745" algn="l"/>
              </a:tabLst>
            </a:pP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Employees</a:t>
            </a:r>
            <a:r>
              <a:rPr sz="1800" spc="1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exist</a:t>
            </a:r>
            <a:r>
              <a:rPr sz="1800" spc="2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average:</a:t>
            </a:r>
            <a:r>
              <a:rPr sz="1800" spc="-6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age</a:t>
            </a:r>
            <a:r>
              <a:rPr sz="1800" spc="-1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33.6,</a:t>
            </a:r>
            <a:r>
              <a:rPr sz="1800" spc="-1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tenure</a:t>
            </a:r>
            <a:r>
              <a:rPr sz="1800" spc="1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5.1</a:t>
            </a:r>
            <a:r>
              <a:rPr sz="1800" spc="-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years,</a:t>
            </a:r>
            <a:r>
              <a:rPr sz="1800" spc="-1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039A6"/>
                </a:solidFill>
                <a:latin typeface="Times New Roman"/>
                <a:cs typeface="Times New Roman"/>
              </a:rPr>
              <a:t>monthly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income</a:t>
            </a:r>
            <a:r>
              <a:rPr sz="1800" spc="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039A6"/>
                </a:solidFill>
                <a:latin typeface="Times New Roman"/>
                <a:cs typeface="Times New Roman"/>
              </a:rPr>
              <a:t>$3,202</a:t>
            </a:r>
            <a:endParaRPr sz="1800">
              <a:latin typeface="Times New Roman"/>
              <a:cs typeface="Times New Roman"/>
            </a:endParaRPr>
          </a:p>
          <a:p>
            <a:pPr marL="245745" marR="205104" indent="-233045">
              <a:lnSpc>
                <a:spcPct val="100899"/>
              </a:lnSpc>
              <a:spcBef>
                <a:spcPts val="1730"/>
              </a:spcBef>
              <a:buFont typeface="Arial MT"/>
              <a:buChar char="•"/>
              <a:tabLst>
                <a:tab pos="245745" algn="l"/>
              </a:tabLst>
            </a:pP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Employees</a:t>
            </a:r>
            <a:r>
              <a:rPr sz="1800" spc="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continue</a:t>
            </a:r>
            <a:r>
              <a:rPr sz="1800" spc="-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average:</a:t>
            </a:r>
            <a:r>
              <a:rPr sz="1800" spc="-6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age 37.6,</a:t>
            </a:r>
            <a:r>
              <a:rPr sz="1800" spc="-1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tenure</a:t>
            </a:r>
            <a:r>
              <a:rPr sz="1800" spc="1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7.4</a:t>
            </a:r>
            <a:r>
              <a:rPr sz="1800" spc="-1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years,</a:t>
            </a:r>
            <a:r>
              <a:rPr sz="1800" spc="-10">
                <a:solidFill>
                  <a:srgbClr val="0039A6"/>
                </a:solidFill>
                <a:latin typeface="Times New Roman"/>
                <a:cs typeface="Times New Roman"/>
              </a:rPr>
              <a:t> monthly </a:t>
            </a:r>
            <a:r>
              <a:rPr sz="1800">
                <a:solidFill>
                  <a:srgbClr val="0039A6"/>
                </a:solidFill>
                <a:latin typeface="Times New Roman"/>
                <a:cs typeface="Times New Roman"/>
              </a:rPr>
              <a:t>income</a:t>
            </a:r>
            <a:r>
              <a:rPr sz="1800" spc="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039A6"/>
                </a:solidFill>
                <a:latin typeface="Times New Roman"/>
                <a:cs typeface="Times New Roman"/>
              </a:rPr>
              <a:t>$5,204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6025" y="1924050"/>
            <a:ext cx="5629275" cy="30003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38380-4DDB-2A84-6A9D-4AFB2C3A7A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121140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43189" y="1478206"/>
            <a:ext cx="7844094" cy="3895362"/>
          </a:xfrm>
          <a:prstGeom prst="rect">
            <a:avLst/>
          </a:prstGeom>
        </p:spPr>
        <p:txBody>
          <a:bodyPr vert="horz" wrap="square" lIns="0" tIns="2540" rIns="0" bIns="0" rtlCol="0" anchor="t">
            <a:spAutoFit/>
          </a:bodyPr>
          <a:lstStyle/>
          <a:p>
            <a:pPr marL="12700" marR="5080" indent="635" algn="ctr">
              <a:lnSpc>
                <a:spcPct val="101499"/>
              </a:lnSpc>
              <a:spcBef>
                <a:spcPts val="20"/>
              </a:spcBef>
              <a:tabLst>
                <a:tab pos="2727325" algn="l"/>
              </a:tabLst>
            </a:pPr>
            <a:r>
              <a:rPr sz="6350" b="1" spc="-20">
                <a:solidFill>
                  <a:srgbClr val="ECEDEE"/>
                </a:solidFill>
                <a:latin typeface="Times New Roman"/>
                <a:cs typeface="Times New Roman"/>
              </a:rPr>
              <a:t>DATA</a:t>
            </a:r>
            <a:r>
              <a:rPr sz="6350" b="1">
                <a:solidFill>
                  <a:srgbClr val="ECEDEE"/>
                </a:solidFill>
                <a:latin typeface="Times New Roman"/>
                <a:cs typeface="Times New Roman"/>
              </a:rPr>
              <a:t>	</a:t>
            </a:r>
            <a:endParaRPr lang="vi-VN" sz="635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2700" marR="5080" indent="635" algn="ctr">
              <a:lnSpc>
                <a:spcPct val="101499"/>
              </a:lnSpc>
              <a:spcBef>
                <a:spcPts val="20"/>
              </a:spcBef>
              <a:tabLst>
                <a:tab pos="2727325" algn="l"/>
              </a:tabLst>
            </a:pPr>
            <a:r>
              <a:rPr sz="6350" b="1" spc="-20">
                <a:solidFill>
                  <a:srgbClr val="ECEDEE"/>
                </a:solidFill>
                <a:latin typeface="Times New Roman"/>
                <a:cs typeface="Times New Roman"/>
              </a:rPr>
              <a:t>PRE- </a:t>
            </a:r>
            <a:r>
              <a:rPr sz="6350" b="1" spc="-10">
                <a:solidFill>
                  <a:srgbClr val="ECEDEE"/>
                </a:solidFill>
                <a:latin typeface="Times New Roman"/>
                <a:cs typeface="Times New Roman"/>
              </a:rPr>
              <a:t>PROCESSING</a:t>
            </a:r>
            <a:endParaRPr lang="en-US" sz="6350">
              <a:latin typeface="Times New Roman"/>
              <a:cs typeface="Times New Roman"/>
            </a:endParaRPr>
          </a:p>
          <a:p>
            <a:pPr marL="1797685" marR="1789430" indent="-1905" algn="ctr">
              <a:lnSpc>
                <a:spcPts val="7730"/>
              </a:lnSpc>
              <a:spcBef>
                <a:spcPts val="45"/>
              </a:spcBef>
            </a:pPr>
            <a:r>
              <a:rPr sz="6350" b="1" spc="-50">
                <a:solidFill>
                  <a:srgbClr val="ECEDEE"/>
                </a:solidFill>
                <a:latin typeface="Times New Roman"/>
                <a:cs typeface="Times New Roman"/>
              </a:rPr>
              <a:t>&amp; </a:t>
            </a:r>
            <a:endParaRPr lang="vi-VN" sz="635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797685" marR="1789430" indent="-1905" algn="ctr">
              <a:lnSpc>
                <a:spcPts val="7730"/>
              </a:lnSpc>
              <a:spcBef>
                <a:spcPts val="45"/>
              </a:spcBef>
            </a:pPr>
            <a:r>
              <a:rPr sz="6350" b="1" spc="-25">
                <a:solidFill>
                  <a:srgbClr val="ECEDEE"/>
                </a:solidFill>
                <a:latin typeface="Times New Roman"/>
                <a:cs typeface="Times New Roman"/>
              </a:rPr>
              <a:t>EDA</a:t>
            </a:r>
            <a:endParaRPr sz="635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7BE847-235D-6605-F7EF-265B61C2B3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144000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107" y="64135"/>
            <a:ext cx="1088453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Data</a:t>
            </a:r>
            <a:r>
              <a:rPr spc="75"/>
              <a:t> </a:t>
            </a:r>
            <a:r>
              <a:t>Pre-processing</a:t>
            </a:r>
            <a:r>
              <a:rPr spc="65"/>
              <a:t> </a:t>
            </a:r>
            <a:r>
              <a:t>&amp;</a:t>
            </a:r>
            <a:r>
              <a:rPr spc="85"/>
              <a:t> </a:t>
            </a:r>
            <a:r>
              <a:t>Exploratory</a:t>
            </a:r>
            <a:r>
              <a:rPr spc="75"/>
              <a:t> </a:t>
            </a:r>
            <a:r>
              <a:t>Data</a:t>
            </a:r>
            <a:r>
              <a:rPr spc="75"/>
              <a:t> </a:t>
            </a:r>
            <a:r>
              <a:rPr spc="-1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900" y="1001077"/>
            <a:ext cx="5114925" cy="33559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8450" marR="5080" indent="-285750">
              <a:lnSpc>
                <a:spcPct val="100899"/>
              </a:lnSpc>
              <a:spcBef>
                <a:spcPts val="110"/>
              </a:spcBef>
              <a:buSzPct val="96774"/>
              <a:buFont typeface="Arial MT"/>
              <a:buChar char="•"/>
              <a:tabLst>
                <a:tab pos="298450" algn="l"/>
              </a:tabLst>
            </a:pPr>
            <a:r>
              <a:rPr sz="1550" b="1">
                <a:solidFill>
                  <a:srgbClr val="0039A6"/>
                </a:solidFill>
                <a:latin typeface="Times New Roman"/>
                <a:cs typeface="Times New Roman"/>
              </a:rPr>
              <a:t>Data</a:t>
            </a:r>
            <a:r>
              <a:rPr sz="1550" b="1" spc="13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9A6"/>
                </a:solidFill>
                <a:latin typeface="Times New Roman"/>
                <a:cs typeface="Times New Roman"/>
              </a:rPr>
              <a:t>Quality</a:t>
            </a:r>
            <a:r>
              <a:rPr sz="1550" b="1" spc="16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9A6"/>
                </a:solidFill>
                <a:latin typeface="Times New Roman"/>
                <a:cs typeface="Times New Roman"/>
              </a:rPr>
              <a:t>Checks:</a:t>
            </a:r>
            <a:r>
              <a:rPr sz="1550" b="1" spc="12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data</a:t>
            </a:r>
            <a:r>
              <a:rPr sz="1550" spc="1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shape,</a:t>
            </a:r>
            <a:r>
              <a:rPr sz="1550" spc="11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columns</a:t>
            </a:r>
            <a:r>
              <a:rPr sz="1550" spc="13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name,</a:t>
            </a:r>
            <a:r>
              <a:rPr sz="1550" spc="114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spc="-10">
                <a:solidFill>
                  <a:srgbClr val="0039A6"/>
                </a:solidFill>
                <a:latin typeface="Times New Roman"/>
                <a:cs typeface="Times New Roman"/>
              </a:rPr>
              <a:t>missing values.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Clr>
                <a:srgbClr val="0039A6"/>
              </a:buClr>
              <a:buFont typeface="Arial MT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SzPct val="96774"/>
              <a:buFont typeface="Arial MT"/>
              <a:buChar char="•"/>
              <a:tabLst>
                <a:tab pos="297815" algn="l"/>
              </a:tabLst>
            </a:pPr>
            <a:r>
              <a:rPr sz="1550" b="1">
                <a:solidFill>
                  <a:srgbClr val="0039A6"/>
                </a:solidFill>
                <a:latin typeface="Times New Roman"/>
                <a:cs typeface="Times New Roman"/>
              </a:rPr>
              <a:t>Feature</a:t>
            </a:r>
            <a:r>
              <a:rPr sz="1550" b="1" spc="15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b="1" spc="-10">
                <a:solidFill>
                  <a:srgbClr val="0039A6"/>
                </a:solidFill>
                <a:latin typeface="Times New Roman"/>
                <a:cs typeface="Times New Roman"/>
              </a:rPr>
              <a:t>Encoding: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39A6"/>
              </a:buClr>
              <a:buFont typeface="Arial MT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702945" lvl="1" indent="-233045">
              <a:lnSpc>
                <a:spcPct val="100000"/>
              </a:lnSpc>
              <a:buFont typeface="Arial MT"/>
              <a:buChar char="•"/>
              <a:tabLst>
                <a:tab pos="702945" algn="l"/>
              </a:tabLst>
            </a:pP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Gender,</a:t>
            </a:r>
            <a:r>
              <a:rPr sz="1550" spc="114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Attrition,</a:t>
            </a:r>
            <a:r>
              <a:rPr sz="1550" spc="1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OverTime</a:t>
            </a:r>
            <a:r>
              <a:rPr sz="1550" spc="17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→</a:t>
            </a:r>
            <a:r>
              <a:rPr sz="1550" spc="14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binary</a:t>
            </a:r>
            <a:r>
              <a:rPr sz="1550" spc="13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spc="-10">
                <a:solidFill>
                  <a:srgbClr val="0039A6"/>
                </a:solidFill>
                <a:latin typeface="Times New Roman"/>
                <a:cs typeface="Times New Roman"/>
              </a:rPr>
              <a:t>encoding.</a:t>
            </a:r>
            <a:endParaRPr sz="15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0039A6"/>
              </a:buClr>
              <a:buFont typeface="Arial MT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702945" marR="285115" lvl="1" indent="-233045">
              <a:lnSpc>
                <a:spcPct val="105000"/>
              </a:lnSpc>
              <a:buFont typeface="Arial MT"/>
              <a:buChar char="•"/>
              <a:tabLst>
                <a:tab pos="702945" algn="l"/>
              </a:tabLst>
            </a:pP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Department,</a:t>
            </a:r>
            <a:r>
              <a:rPr sz="1550" spc="1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Business</a:t>
            </a:r>
            <a:r>
              <a:rPr sz="1550" spc="12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Travel,</a:t>
            </a:r>
            <a:r>
              <a:rPr sz="1550" spc="1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Job</a:t>
            </a:r>
            <a:r>
              <a:rPr sz="1550" spc="15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Role,</a:t>
            </a:r>
            <a:r>
              <a:rPr sz="1550" spc="1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spc="-10">
                <a:solidFill>
                  <a:srgbClr val="0039A6"/>
                </a:solidFill>
                <a:latin typeface="Times New Roman"/>
                <a:cs typeface="Times New Roman"/>
              </a:rPr>
              <a:t>Education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Field,</a:t>
            </a:r>
            <a:r>
              <a:rPr sz="1550" spc="114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Marital</a:t>
            </a:r>
            <a:r>
              <a:rPr sz="1550" spc="14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Status</a:t>
            </a:r>
            <a:r>
              <a:rPr sz="1550" spc="13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→</a:t>
            </a:r>
            <a:r>
              <a:rPr sz="1550" spc="13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ordinal</a:t>
            </a:r>
            <a:r>
              <a:rPr sz="1550" spc="10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spc="-10">
                <a:solidFill>
                  <a:srgbClr val="0039A6"/>
                </a:solidFill>
                <a:latin typeface="Times New Roman"/>
                <a:cs typeface="Times New Roman"/>
              </a:rPr>
              <a:t>encoding.</a:t>
            </a:r>
            <a:endParaRPr sz="15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0039A6"/>
              </a:buClr>
              <a:buFont typeface="Arial MT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SzPct val="96774"/>
              <a:buFont typeface="Arial MT"/>
              <a:buChar char="•"/>
              <a:tabLst>
                <a:tab pos="297815" algn="l"/>
              </a:tabLst>
            </a:pPr>
            <a:r>
              <a:rPr sz="1550" b="1">
                <a:solidFill>
                  <a:srgbClr val="0039A6"/>
                </a:solidFill>
                <a:latin typeface="Times New Roman"/>
                <a:cs typeface="Times New Roman"/>
              </a:rPr>
              <a:t>Train–Test</a:t>
            </a:r>
            <a:r>
              <a:rPr sz="1550" b="1" spc="114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9A6"/>
                </a:solidFill>
                <a:latin typeface="Times New Roman"/>
                <a:cs typeface="Times New Roman"/>
              </a:rPr>
              <a:t>Split</a:t>
            </a:r>
            <a:r>
              <a:rPr sz="1550" b="1" spc="9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404041"/>
                </a:solidFill>
                <a:latin typeface="Times New Roman"/>
                <a:cs typeface="Times New Roman"/>
              </a:rPr>
              <a:t>:</a:t>
            </a:r>
            <a:r>
              <a:rPr sz="1550" spc="110">
                <a:solidFill>
                  <a:srgbClr val="404041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80%</a:t>
            </a:r>
            <a:r>
              <a:rPr sz="1550" spc="13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–</a:t>
            </a:r>
            <a:r>
              <a:rPr sz="1550" spc="1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20%</a:t>
            </a:r>
            <a:r>
              <a:rPr sz="1550" spc="13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using</a:t>
            </a:r>
            <a:r>
              <a:rPr sz="1550" spc="9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9A6"/>
                </a:solidFill>
                <a:latin typeface="Times New Roman"/>
                <a:cs typeface="Times New Roman"/>
              </a:rPr>
              <a:t>stratified</a:t>
            </a:r>
            <a:r>
              <a:rPr sz="1550" b="1" spc="8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b="1" spc="-10">
                <a:solidFill>
                  <a:srgbClr val="0039A6"/>
                </a:solidFill>
                <a:latin typeface="Times New Roman"/>
                <a:cs typeface="Times New Roman"/>
              </a:rPr>
              <a:t>sampling</a:t>
            </a:r>
            <a:endParaRPr sz="155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  <a:spcBef>
                <a:spcPts val="95"/>
              </a:spcBef>
            </a:pP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to</a:t>
            </a:r>
            <a:r>
              <a:rPr sz="1550" spc="12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preserve</a:t>
            </a:r>
            <a:r>
              <a:rPr sz="1550" spc="13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the</a:t>
            </a:r>
            <a:r>
              <a:rPr sz="1550" spc="10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Attrition</a:t>
            </a:r>
            <a:r>
              <a:rPr sz="1550" spc="13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spc="-10">
                <a:solidFill>
                  <a:srgbClr val="0039A6"/>
                </a:solidFill>
                <a:latin typeface="Times New Roman"/>
                <a:cs typeface="Times New Roman"/>
              </a:rPr>
              <a:t>distribution.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5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SzPct val="96774"/>
              <a:buFont typeface="Arial MT"/>
              <a:buChar char="•"/>
              <a:tabLst>
                <a:tab pos="297815" algn="l"/>
              </a:tabLst>
            </a:pPr>
            <a:r>
              <a:rPr sz="1550" b="1">
                <a:solidFill>
                  <a:srgbClr val="0039A6"/>
                </a:solidFill>
                <a:latin typeface="Times New Roman"/>
                <a:cs typeface="Times New Roman"/>
              </a:rPr>
              <a:t>Feature</a:t>
            </a:r>
            <a:r>
              <a:rPr sz="1550" b="1" spc="13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9A6"/>
                </a:solidFill>
                <a:latin typeface="Times New Roman"/>
                <a:cs typeface="Times New Roman"/>
              </a:rPr>
              <a:t>Scaling:</a:t>
            </a:r>
            <a:r>
              <a:rPr sz="1550" b="1" spc="18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spc="-10">
                <a:solidFill>
                  <a:srgbClr val="0039A6"/>
                </a:solidFill>
                <a:latin typeface="Times New Roman"/>
                <a:cs typeface="Times New Roman"/>
              </a:rPr>
              <a:t>StandardScaler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5900" y="4568253"/>
            <a:ext cx="4774565" cy="7524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298450" marR="5080" indent="-285750">
              <a:lnSpc>
                <a:spcPct val="103000"/>
              </a:lnSpc>
              <a:spcBef>
                <a:spcPts val="70"/>
              </a:spcBef>
              <a:buSzPct val="96774"/>
              <a:buFont typeface="Arial MT"/>
              <a:buChar char="•"/>
              <a:tabLst>
                <a:tab pos="298450" algn="l"/>
              </a:tabLst>
            </a:pPr>
            <a:r>
              <a:rPr sz="1550" b="1">
                <a:solidFill>
                  <a:srgbClr val="0039A6"/>
                </a:solidFill>
                <a:latin typeface="Times New Roman"/>
                <a:cs typeface="Times New Roman"/>
              </a:rPr>
              <a:t>Addressing</a:t>
            </a:r>
            <a:r>
              <a:rPr sz="1550" b="1" spc="9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9A6"/>
                </a:solidFill>
                <a:latin typeface="Times New Roman"/>
                <a:cs typeface="Times New Roman"/>
              </a:rPr>
              <a:t>Class</a:t>
            </a:r>
            <a:r>
              <a:rPr sz="1550" b="1" spc="19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9A6"/>
                </a:solidFill>
                <a:latin typeface="Times New Roman"/>
                <a:cs typeface="Times New Roman"/>
              </a:rPr>
              <a:t>Imbalance</a:t>
            </a:r>
            <a:r>
              <a:rPr sz="1550" b="1" spc="13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9A6"/>
                </a:solidFill>
                <a:latin typeface="Times New Roman"/>
                <a:cs typeface="Times New Roman"/>
              </a:rPr>
              <a:t>:</a:t>
            </a:r>
            <a:r>
              <a:rPr sz="1550" b="1" spc="15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Used</a:t>
            </a:r>
            <a:r>
              <a:rPr sz="1550" spc="17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9A6"/>
                </a:solidFill>
                <a:latin typeface="Times New Roman"/>
                <a:cs typeface="Times New Roman"/>
              </a:rPr>
              <a:t>class_weight</a:t>
            </a:r>
            <a:r>
              <a:rPr sz="1550" b="1" spc="15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b="1" spc="-50">
                <a:solidFill>
                  <a:srgbClr val="0039A6"/>
                </a:solidFill>
                <a:latin typeface="Times New Roman"/>
                <a:cs typeface="Times New Roman"/>
              </a:rPr>
              <a:t>= </a:t>
            </a:r>
            <a:r>
              <a:rPr sz="1550" b="1">
                <a:solidFill>
                  <a:srgbClr val="0039A6"/>
                </a:solidFill>
                <a:latin typeface="Times New Roman"/>
                <a:cs typeface="Times New Roman"/>
              </a:rPr>
              <a:t>'balanced'</a:t>
            </a:r>
            <a:r>
              <a:rPr sz="1550" b="1" spc="1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and</a:t>
            </a:r>
            <a:r>
              <a:rPr sz="1550" spc="1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later</a:t>
            </a:r>
            <a:r>
              <a:rPr sz="1550" spc="13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9A6"/>
                </a:solidFill>
                <a:latin typeface="Times New Roman"/>
                <a:cs typeface="Times New Roman"/>
              </a:rPr>
              <a:t>SMOTE</a:t>
            </a:r>
            <a:r>
              <a:rPr sz="1550" b="1" spc="11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for</a:t>
            </a:r>
            <a:r>
              <a:rPr sz="1550" spc="10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balanced</a:t>
            </a:r>
            <a:r>
              <a:rPr sz="1550" spc="16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spc="-10">
                <a:solidFill>
                  <a:srgbClr val="0039A6"/>
                </a:solidFill>
                <a:latin typeface="Times New Roman"/>
                <a:cs typeface="Times New Roman"/>
              </a:rPr>
              <a:t>resampling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during</a:t>
            </a:r>
            <a:r>
              <a:rPr sz="1550" spc="15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>
                <a:solidFill>
                  <a:srgbClr val="0039A6"/>
                </a:solidFill>
                <a:latin typeface="Times New Roman"/>
                <a:cs typeface="Times New Roman"/>
              </a:rPr>
              <a:t>model</a:t>
            </a:r>
            <a:r>
              <a:rPr sz="1550" spc="10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spc="-10">
                <a:solidFill>
                  <a:srgbClr val="0039A6"/>
                </a:solidFill>
                <a:latin typeface="Times New Roman"/>
                <a:cs typeface="Times New Roman"/>
              </a:rPr>
              <a:t>improvement.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0887" y="1732810"/>
            <a:ext cx="3044527" cy="303500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81333" y="1844621"/>
            <a:ext cx="3409834" cy="253058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727953" y="4827587"/>
            <a:ext cx="182943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>
                <a:solidFill>
                  <a:srgbClr val="0039A6"/>
                </a:solidFill>
                <a:latin typeface="Times New Roman"/>
                <a:cs typeface="Times New Roman"/>
              </a:rPr>
              <a:t>Correlation</a:t>
            </a:r>
            <a:r>
              <a:rPr sz="1550" b="1" spc="21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550" b="1" spc="-10">
                <a:solidFill>
                  <a:srgbClr val="0039A6"/>
                </a:solidFill>
                <a:latin typeface="Times New Roman"/>
                <a:cs typeface="Times New Roman"/>
              </a:rPr>
              <a:t>Analysis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93250" y="4807521"/>
            <a:ext cx="172338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0039A6"/>
                </a:solidFill>
                <a:latin typeface="Times New Roman"/>
                <a:cs typeface="Times New Roman"/>
              </a:rPr>
              <a:t>Outlier</a:t>
            </a:r>
            <a:r>
              <a:rPr sz="1800" b="1" spc="-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1800" b="1" spc="-10">
                <a:solidFill>
                  <a:srgbClr val="0039A6"/>
                </a:solidFill>
                <a:latin typeface="Times New Roman"/>
                <a:cs typeface="Times New Roman"/>
              </a:rPr>
              <a:t>Detection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23BEF3-7EA0-B7D2-8906-CA318319E0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087007" y="6427928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30"/>
              </a:spcBef>
            </a:pPr>
            <a:r>
              <a:t>Data</a:t>
            </a:r>
            <a:r>
              <a:rPr spc="75"/>
              <a:t> </a:t>
            </a:r>
            <a:r>
              <a:t>Pre-processing</a:t>
            </a:r>
            <a:r>
              <a:rPr spc="65"/>
              <a:t> </a:t>
            </a:r>
            <a:r>
              <a:t>&amp;</a:t>
            </a:r>
            <a:r>
              <a:rPr spc="85"/>
              <a:t> </a:t>
            </a:r>
            <a:r>
              <a:t>Exploratory</a:t>
            </a:r>
            <a:r>
              <a:rPr spc="75"/>
              <a:t> </a:t>
            </a:r>
            <a:r>
              <a:t>Data</a:t>
            </a:r>
            <a:r>
              <a:rPr spc="75"/>
              <a:t> </a:t>
            </a:r>
            <a:r>
              <a:rPr spc="-10"/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685" y="923284"/>
            <a:ext cx="6831678" cy="549720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E0F88-0EE6-1D03-6A8E-18AD22B3A43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140363" y="6408084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3819" y="1474152"/>
            <a:ext cx="8624570" cy="39363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algn="ctr">
              <a:lnSpc>
                <a:spcPct val="101499"/>
              </a:lnSpc>
              <a:spcBef>
                <a:spcPts val="15"/>
              </a:spcBef>
            </a:pPr>
            <a:r>
              <a:rPr sz="6350" b="1">
                <a:solidFill>
                  <a:srgbClr val="ECEDEE"/>
                </a:solidFill>
                <a:latin typeface="Times New Roman"/>
                <a:cs typeface="Times New Roman"/>
              </a:rPr>
              <a:t>MACHINE</a:t>
            </a:r>
            <a:r>
              <a:rPr sz="6350" b="1" spc="40">
                <a:solidFill>
                  <a:srgbClr val="ECEDEE"/>
                </a:solidFill>
                <a:latin typeface="Times New Roman"/>
                <a:cs typeface="Times New Roman"/>
              </a:rPr>
              <a:t> </a:t>
            </a:r>
            <a:r>
              <a:rPr sz="6350" b="1" spc="-10">
                <a:solidFill>
                  <a:srgbClr val="ECEDEE"/>
                </a:solidFill>
                <a:latin typeface="Times New Roman"/>
                <a:cs typeface="Times New Roman"/>
              </a:rPr>
              <a:t>LEARNING MODELS</a:t>
            </a:r>
            <a:endParaRPr sz="6350">
              <a:latin typeface="Times New Roman"/>
              <a:cs typeface="Times New Roman"/>
            </a:endParaRPr>
          </a:p>
          <a:p>
            <a:pPr marL="1559560" marR="1544320" indent="1905" algn="ctr">
              <a:lnSpc>
                <a:spcPts val="7740"/>
              </a:lnSpc>
              <a:spcBef>
                <a:spcPts val="25"/>
              </a:spcBef>
            </a:pPr>
            <a:r>
              <a:rPr sz="6350" b="1" spc="-50">
                <a:solidFill>
                  <a:srgbClr val="ECEDEE"/>
                </a:solidFill>
                <a:latin typeface="Times New Roman"/>
                <a:cs typeface="Times New Roman"/>
              </a:rPr>
              <a:t>&amp; </a:t>
            </a:r>
            <a:r>
              <a:rPr sz="6350" b="1" spc="-10">
                <a:solidFill>
                  <a:srgbClr val="ECEDEE"/>
                </a:solidFill>
                <a:latin typeface="Times New Roman"/>
                <a:cs typeface="Times New Roman"/>
              </a:rPr>
              <a:t>EVALUATION</a:t>
            </a:r>
            <a:endParaRPr sz="635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611F41-CD13-3EC0-2B44-1675F99DA34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076309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23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Machine</a:t>
            </a:r>
            <a:r>
              <a:rPr spc="90"/>
              <a:t> </a:t>
            </a:r>
            <a:r>
              <a:t>Learning</a:t>
            </a:r>
            <a:r>
              <a:rPr spc="110"/>
              <a:t> </a:t>
            </a:r>
            <a:r>
              <a:rPr spc="-1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4684" y="1336420"/>
            <a:ext cx="3340100" cy="3062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>
                <a:solidFill>
                  <a:srgbClr val="C50C2F"/>
                </a:solidFill>
                <a:latin typeface="Times New Roman"/>
                <a:cs typeface="Times New Roman"/>
              </a:rPr>
              <a:t>MODELS</a:t>
            </a:r>
            <a:r>
              <a:rPr sz="2400" b="1" spc="-25">
                <a:solidFill>
                  <a:srgbClr val="C50C2F"/>
                </a:solidFill>
                <a:latin typeface="Times New Roman"/>
                <a:cs typeface="Times New Roman"/>
              </a:rPr>
              <a:t> </a:t>
            </a:r>
            <a:r>
              <a:rPr sz="2400" b="1" spc="-10">
                <a:solidFill>
                  <a:srgbClr val="C50C2F"/>
                </a:solidFill>
                <a:latin typeface="Times New Roman"/>
                <a:cs typeface="Times New Roman"/>
              </a:rPr>
              <a:t>EVALUATED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800"/>
              </a:spcBef>
              <a:buSzPct val="92500"/>
              <a:buAutoNum type="arabicPeriod"/>
              <a:tabLst>
                <a:tab pos="469900" algn="l"/>
              </a:tabLst>
            </a:pPr>
            <a:r>
              <a:rPr sz="2000" b="1">
                <a:solidFill>
                  <a:srgbClr val="0038A6"/>
                </a:solidFill>
                <a:latin typeface="Times New Roman"/>
                <a:cs typeface="Times New Roman"/>
              </a:rPr>
              <a:t>Logistic</a:t>
            </a:r>
            <a:r>
              <a:rPr sz="2000" b="1" spc="-3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000" b="1" spc="-10">
                <a:solidFill>
                  <a:srgbClr val="0038A6"/>
                </a:solidFill>
                <a:latin typeface="Times New Roman"/>
                <a:cs typeface="Times New Roman"/>
              </a:rPr>
              <a:t>regression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805"/>
              </a:spcBef>
              <a:buSzPct val="92500"/>
              <a:buAutoNum type="arabicPeriod"/>
              <a:tabLst>
                <a:tab pos="469900" algn="l"/>
              </a:tabLst>
            </a:pPr>
            <a:r>
              <a:rPr sz="2000" b="1">
                <a:solidFill>
                  <a:srgbClr val="0038A6"/>
                </a:solidFill>
                <a:latin typeface="Times New Roman"/>
                <a:cs typeface="Times New Roman"/>
              </a:rPr>
              <a:t>Decision</a:t>
            </a:r>
            <a:r>
              <a:rPr sz="2000" b="1" spc="-5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000" b="1" spc="-20">
                <a:solidFill>
                  <a:srgbClr val="0038A6"/>
                </a:solidFill>
                <a:latin typeface="Times New Roman"/>
                <a:cs typeface="Times New Roman"/>
              </a:rPr>
              <a:t>Tree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805"/>
              </a:spcBef>
              <a:buSzPct val="92500"/>
              <a:buAutoNum type="arabicPeriod"/>
              <a:tabLst>
                <a:tab pos="469900" algn="l"/>
              </a:tabLst>
            </a:pPr>
            <a:r>
              <a:rPr sz="2000" b="1">
                <a:solidFill>
                  <a:srgbClr val="0038A6"/>
                </a:solidFill>
                <a:latin typeface="Times New Roman"/>
                <a:cs typeface="Times New Roman"/>
              </a:rPr>
              <a:t>Random</a:t>
            </a:r>
            <a:r>
              <a:rPr sz="2000" b="1" spc="-3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000" b="1" spc="-10">
                <a:solidFill>
                  <a:srgbClr val="0038A6"/>
                </a:solidFill>
                <a:latin typeface="Times New Roman"/>
                <a:cs typeface="Times New Roman"/>
              </a:rPr>
              <a:t>Forrest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810"/>
              </a:spcBef>
              <a:buSzPct val="92500"/>
              <a:buAutoNum type="arabicPeriod"/>
              <a:tabLst>
                <a:tab pos="469900" algn="l"/>
              </a:tabLst>
            </a:pPr>
            <a:r>
              <a:rPr sz="2000" b="1" spc="-25">
                <a:solidFill>
                  <a:srgbClr val="0038A6"/>
                </a:solidFill>
                <a:latin typeface="Times New Roman"/>
                <a:cs typeface="Times New Roman"/>
              </a:rPr>
              <a:t>SVM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805"/>
              </a:spcBef>
              <a:buSzPct val="92500"/>
              <a:buAutoNum type="arabicPeriod"/>
              <a:tabLst>
                <a:tab pos="469900" algn="l"/>
              </a:tabLst>
            </a:pPr>
            <a:r>
              <a:rPr sz="2000" b="1" spc="-10">
                <a:solidFill>
                  <a:srgbClr val="0038A6"/>
                </a:solidFill>
                <a:latin typeface="Times New Roman"/>
                <a:cs typeface="Times New Roman"/>
              </a:rPr>
              <a:t>XGBoost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43320" y="1336420"/>
            <a:ext cx="5203825" cy="2299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>
                <a:solidFill>
                  <a:srgbClr val="C50C2F"/>
                </a:solidFill>
                <a:latin typeface="Times New Roman"/>
                <a:cs typeface="Times New Roman"/>
              </a:rPr>
              <a:t>SELECTION</a:t>
            </a:r>
            <a:r>
              <a:rPr sz="2400" b="1" spc="-70">
                <a:solidFill>
                  <a:srgbClr val="C50C2F"/>
                </a:solidFill>
                <a:latin typeface="Times New Roman"/>
                <a:cs typeface="Times New Roman"/>
              </a:rPr>
              <a:t> </a:t>
            </a:r>
            <a:r>
              <a:rPr sz="2400" b="1" spc="-10">
                <a:solidFill>
                  <a:srgbClr val="C50C2F"/>
                </a:solidFill>
                <a:latin typeface="Times New Roman"/>
                <a:cs typeface="Times New Roman"/>
              </a:rPr>
              <a:t>CRITERIA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800"/>
              </a:spcBef>
              <a:buSzPct val="92500"/>
              <a:buFont typeface="Arial MT"/>
              <a:buChar char="•"/>
              <a:tabLst>
                <a:tab pos="354965" algn="l"/>
              </a:tabLst>
            </a:pPr>
            <a:r>
              <a:rPr sz="2000" b="1">
                <a:solidFill>
                  <a:srgbClr val="0038A6"/>
                </a:solidFill>
                <a:latin typeface="Times New Roman"/>
                <a:cs typeface="Times New Roman"/>
              </a:rPr>
              <a:t>RECALL</a:t>
            </a:r>
            <a:r>
              <a:rPr sz="2000" b="1" spc="-6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38A6"/>
                </a:solidFill>
                <a:latin typeface="Times New Roman"/>
                <a:cs typeface="Times New Roman"/>
              </a:rPr>
              <a:t>is</a:t>
            </a:r>
            <a:r>
              <a:rPr sz="2000" b="1" spc="-25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38A6"/>
                </a:solidFill>
                <a:latin typeface="Times New Roman"/>
                <a:cs typeface="Times New Roman"/>
              </a:rPr>
              <a:t>Primary</a:t>
            </a:r>
            <a:r>
              <a:rPr sz="2000" b="1" spc="-2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000" b="1" spc="-10">
                <a:solidFill>
                  <a:srgbClr val="0038A6"/>
                </a:solidFill>
                <a:latin typeface="Times New Roman"/>
                <a:cs typeface="Times New Roman"/>
              </a:rPr>
              <a:t>Metric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805"/>
              </a:spcBef>
              <a:buSzPct val="92500"/>
              <a:buFont typeface="Arial MT"/>
              <a:buChar char="•"/>
              <a:tabLst>
                <a:tab pos="354965" algn="l"/>
              </a:tabLst>
            </a:pPr>
            <a:r>
              <a:rPr sz="2000" b="1">
                <a:solidFill>
                  <a:srgbClr val="0038A6"/>
                </a:solidFill>
                <a:latin typeface="Times New Roman"/>
                <a:cs typeface="Times New Roman"/>
              </a:rPr>
              <a:t>FN</a:t>
            </a:r>
            <a:r>
              <a:rPr sz="2000" b="1" spc="-2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38A6"/>
                </a:solidFill>
                <a:latin typeface="Times New Roman"/>
                <a:cs typeface="Times New Roman"/>
              </a:rPr>
              <a:t>cost</a:t>
            </a:r>
            <a:r>
              <a:rPr sz="2000" b="1" spc="-5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000" b="1" spc="-10">
                <a:solidFill>
                  <a:srgbClr val="0038A6"/>
                </a:solidFill>
                <a:latin typeface="Times New Roman"/>
                <a:cs typeface="Times New Roman"/>
              </a:rPr>
              <a:t>$50-</a:t>
            </a:r>
            <a:r>
              <a:rPr sz="2000" b="1">
                <a:solidFill>
                  <a:srgbClr val="0038A6"/>
                </a:solidFill>
                <a:latin typeface="Times New Roman"/>
                <a:cs typeface="Times New Roman"/>
              </a:rPr>
              <a:t>$150K</a:t>
            </a:r>
            <a:r>
              <a:rPr sz="2000" b="1" spc="-55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38A6"/>
                </a:solidFill>
                <a:latin typeface="Times New Roman"/>
                <a:cs typeface="Times New Roman"/>
              </a:rPr>
              <a:t>each</a:t>
            </a:r>
            <a:r>
              <a:rPr sz="2000" b="1" spc="2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38A6"/>
                </a:solidFill>
                <a:latin typeface="Times New Roman"/>
                <a:cs typeface="Times New Roman"/>
              </a:rPr>
              <a:t>(missed</a:t>
            </a:r>
            <a:r>
              <a:rPr sz="2000" b="1" spc="-55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000" b="1" spc="-10">
                <a:solidFill>
                  <a:srgbClr val="0038A6"/>
                </a:solidFill>
                <a:latin typeface="Times New Roman"/>
                <a:cs typeface="Times New Roman"/>
              </a:rPr>
              <a:t>departures)</a:t>
            </a:r>
            <a:endParaRPr sz="2000">
              <a:latin typeface="Times New Roman"/>
              <a:cs typeface="Times New Roman"/>
            </a:endParaRPr>
          </a:p>
          <a:p>
            <a:pPr marL="355600" marR="753745" indent="-342900">
              <a:lnSpc>
                <a:spcPct val="100000"/>
              </a:lnSpc>
              <a:spcBef>
                <a:spcPts val="1805"/>
              </a:spcBef>
              <a:buSzPct val="92500"/>
              <a:buFont typeface="Arial MT"/>
              <a:buChar char="•"/>
              <a:tabLst>
                <a:tab pos="355600" algn="l"/>
              </a:tabLst>
            </a:pPr>
            <a:r>
              <a:rPr sz="2000" b="1">
                <a:solidFill>
                  <a:srgbClr val="0038A6"/>
                </a:solidFill>
                <a:latin typeface="Times New Roman"/>
                <a:cs typeface="Times New Roman"/>
              </a:rPr>
              <a:t>Business</a:t>
            </a:r>
            <a:r>
              <a:rPr sz="2000" b="1" spc="-15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38A6"/>
                </a:solidFill>
                <a:latin typeface="Times New Roman"/>
                <a:cs typeface="Times New Roman"/>
              </a:rPr>
              <a:t>impact</a:t>
            </a:r>
            <a:r>
              <a:rPr sz="2000" b="1" spc="-4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38A6"/>
                </a:solidFill>
                <a:latin typeface="Times New Roman"/>
                <a:cs typeface="Times New Roman"/>
              </a:rPr>
              <a:t>prioritized</a:t>
            </a:r>
            <a:r>
              <a:rPr sz="2000" b="1" spc="-4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38A6"/>
                </a:solidFill>
                <a:latin typeface="Times New Roman"/>
                <a:cs typeface="Times New Roman"/>
              </a:rPr>
              <a:t>over</a:t>
            </a:r>
            <a:r>
              <a:rPr sz="2000" b="1" spc="-4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000" b="1" spc="-20">
                <a:solidFill>
                  <a:srgbClr val="0038A6"/>
                </a:solidFill>
                <a:latin typeface="Times New Roman"/>
                <a:cs typeface="Times New Roman"/>
              </a:rPr>
              <a:t>pure </a:t>
            </a:r>
            <a:r>
              <a:rPr sz="2000" b="1" spc="-10">
                <a:solidFill>
                  <a:srgbClr val="0038A6"/>
                </a:solidFill>
                <a:latin typeface="Times New Roman"/>
                <a:cs typeface="Times New Roman"/>
              </a:rPr>
              <a:t>accuracy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F33349-DE9C-AAFD-F047-CC08B90C500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20200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30"/>
              </a:spcBef>
            </a:pPr>
            <a:r>
              <a:t>Machine</a:t>
            </a:r>
            <a:r>
              <a:rPr spc="85"/>
              <a:t> </a:t>
            </a:r>
            <a:r>
              <a:t>Learning</a:t>
            </a:r>
            <a:r>
              <a:rPr spc="95"/>
              <a:t> </a:t>
            </a:r>
            <a:r>
              <a:t>Models</a:t>
            </a:r>
            <a:r>
              <a:rPr spc="125"/>
              <a:t> </a:t>
            </a:r>
            <a:r>
              <a:rPr spc="-10"/>
              <a:t>Comparison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2474" y="758211"/>
            <a:ext cx="9273114" cy="512221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55799-29A0-B997-3A22-7D197DCC2F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20200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542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0"/>
              </a:spcBef>
            </a:pPr>
            <a:r>
              <a:t>Machine</a:t>
            </a:r>
            <a:r>
              <a:rPr spc="65"/>
              <a:t> </a:t>
            </a:r>
            <a:r>
              <a:t>Learning</a:t>
            </a:r>
            <a:r>
              <a:rPr spc="80"/>
              <a:t> </a:t>
            </a:r>
            <a:r>
              <a:t>Models</a:t>
            </a:r>
            <a:r>
              <a:rPr spc="65"/>
              <a:t> </a:t>
            </a:r>
            <a:r>
              <a:rPr spc="-10"/>
              <a:t>Comparison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6822" y="1090636"/>
            <a:ext cx="9034834" cy="504200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88511-F17F-1CA4-C89E-65F5D98D07D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20200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597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30"/>
              </a:spcBef>
            </a:pPr>
            <a:r>
              <a:t>Machine</a:t>
            </a:r>
            <a:r>
              <a:rPr spc="65"/>
              <a:t> </a:t>
            </a:r>
            <a:r>
              <a:t>Learning</a:t>
            </a:r>
            <a:r>
              <a:rPr spc="75"/>
              <a:t> </a:t>
            </a:r>
            <a:r>
              <a:t>Models</a:t>
            </a:r>
            <a:r>
              <a:rPr spc="65"/>
              <a:t> </a:t>
            </a:r>
            <a:r>
              <a:rPr spc="-10"/>
              <a:t>Comparison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3947" y="1033040"/>
            <a:ext cx="6878244" cy="543978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A134C-B3DE-2B5C-4CFB-45962E15A4F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51533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617" y="266699"/>
            <a:ext cx="6893559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Why</a:t>
            </a:r>
            <a:r>
              <a:rPr spc="65"/>
              <a:t> </a:t>
            </a:r>
            <a:r>
              <a:t>Logistic</a:t>
            </a:r>
            <a:r>
              <a:rPr spc="75"/>
              <a:t> </a:t>
            </a:r>
            <a:r>
              <a:t>Regression</a:t>
            </a:r>
            <a:r>
              <a:rPr spc="70"/>
              <a:t> </a:t>
            </a:r>
            <a:r>
              <a:rPr spc="-20"/>
              <a:t>WINS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8617" y="1097216"/>
            <a:ext cx="8589010" cy="12103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"/>
              </a:spcBef>
              <a:buSzPct val="96774"/>
              <a:buFont typeface="Arial MT"/>
              <a:buChar char="•"/>
              <a:tabLst>
                <a:tab pos="355600" algn="l"/>
              </a:tabLst>
            </a:pP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Catches</a:t>
            </a:r>
            <a:r>
              <a:rPr sz="1550" b="1" spc="15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37</a:t>
            </a:r>
            <a:r>
              <a:rPr sz="1550" b="1" spc="114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of</a:t>
            </a:r>
            <a:r>
              <a:rPr sz="1550" b="1" spc="114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47</a:t>
            </a:r>
            <a:r>
              <a:rPr sz="1550" b="1" spc="11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departing</a:t>
            </a:r>
            <a:r>
              <a:rPr sz="1550" b="1" spc="15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employees</a:t>
            </a:r>
            <a:r>
              <a:rPr sz="1550" b="1" spc="17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(correctly</a:t>
            </a:r>
            <a:r>
              <a:rPr sz="1550" b="1" spc="145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identifies</a:t>
            </a:r>
            <a:r>
              <a:rPr sz="1550" b="1" spc="175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 spc="-10">
                <a:solidFill>
                  <a:srgbClr val="0038A6"/>
                </a:solidFill>
                <a:latin typeface="Times New Roman"/>
                <a:cs typeface="Times New Roman"/>
              </a:rPr>
              <a:t>departures)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38A6"/>
              </a:buClr>
              <a:buFont typeface="Arial MT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SzPct val="96774"/>
              <a:buFont typeface="Arial MT"/>
              <a:buChar char="•"/>
              <a:tabLst>
                <a:tab pos="355600" algn="l"/>
              </a:tabLst>
            </a:pP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ROC-AUC</a:t>
            </a:r>
            <a:r>
              <a:rPr sz="1550" b="1" spc="65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Superior:</a:t>
            </a:r>
            <a:r>
              <a:rPr sz="1550" b="1" spc="18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Best</a:t>
            </a:r>
            <a:r>
              <a:rPr sz="1550" b="1" spc="85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discrimination</a:t>
            </a:r>
            <a:r>
              <a:rPr sz="1550" b="1" spc="204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between</a:t>
            </a:r>
            <a:r>
              <a:rPr sz="1550" b="1" spc="21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attrition</a:t>
            </a:r>
            <a:r>
              <a:rPr sz="1550" b="1" spc="11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and</a:t>
            </a:r>
            <a:r>
              <a:rPr sz="1550" b="1" spc="11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retention</a:t>
            </a:r>
            <a:r>
              <a:rPr sz="1550" b="1" spc="11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across</a:t>
            </a:r>
            <a:r>
              <a:rPr sz="1550" b="1" spc="165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all</a:t>
            </a:r>
            <a:r>
              <a:rPr sz="1550" b="1" spc="28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 spc="-10">
                <a:solidFill>
                  <a:srgbClr val="0038A6"/>
                </a:solidFill>
                <a:latin typeface="Times New Roman"/>
                <a:cs typeface="Times New Roman"/>
              </a:rPr>
              <a:t>thresholds.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Clr>
                <a:srgbClr val="0038A6"/>
              </a:buClr>
              <a:buFont typeface="Arial MT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SzPct val="96774"/>
              <a:buFont typeface="Arial MT"/>
              <a:buChar char="•"/>
              <a:tabLst>
                <a:tab pos="355600" algn="l"/>
              </a:tabLst>
            </a:pP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Interpretability:</a:t>
            </a:r>
            <a:r>
              <a:rPr sz="1550" b="1" spc="125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Feature</a:t>
            </a:r>
            <a:r>
              <a:rPr sz="1550" b="1" spc="195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coefficients</a:t>
            </a:r>
            <a:r>
              <a:rPr sz="1550" b="1" spc="22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show</a:t>
            </a:r>
            <a:r>
              <a:rPr sz="1550" b="1" spc="21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exactly</a:t>
            </a:r>
            <a:r>
              <a:rPr sz="1550" b="1" spc="195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which</a:t>
            </a:r>
            <a:r>
              <a:rPr sz="1550" b="1" spc="16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factors</a:t>
            </a:r>
            <a:r>
              <a:rPr sz="1550" b="1" spc="114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raise</a:t>
            </a:r>
            <a:r>
              <a:rPr sz="1550" b="1" spc="12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>
                <a:solidFill>
                  <a:srgbClr val="0038A6"/>
                </a:solidFill>
                <a:latin typeface="Times New Roman"/>
                <a:cs typeface="Times New Roman"/>
              </a:rPr>
              <a:t>attrition</a:t>
            </a:r>
            <a:r>
              <a:rPr sz="1550" b="1" spc="195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1550" b="1" spc="-20">
                <a:solidFill>
                  <a:srgbClr val="0038A6"/>
                </a:solidFill>
                <a:latin typeface="Times New Roman"/>
                <a:cs typeface="Times New Roman"/>
              </a:rPr>
              <a:t>risk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00" y="2514600"/>
            <a:ext cx="4057650" cy="3771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37636" y="2565744"/>
            <a:ext cx="6250865" cy="368239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886A9-9E2F-406F-E4F1-D25FCF9A56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20200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91825" y="6400800"/>
              <a:ext cx="923925" cy="1714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0525" y="6162675"/>
              <a:ext cx="1285875" cy="4572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52499" y="2258314"/>
            <a:ext cx="9710420" cy="198120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447800" marR="5080" indent="-1435735">
              <a:lnSpc>
                <a:spcPct val="101499"/>
              </a:lnSpc>
              <a:spcBef>
                <a:spcPts val="20"/>
              </a:spcBef>
            </a:pPr>
            <a:r>
              <a:rPr sz="6350">
                <a:solidFill>
                  <a:srgbClr val="ECEDEE"/>
                </a:solidFill>
              </a:rPr>
              <a:t>MODEL</a:t>
            </a:r>
            <a:r>
              <a:rPr sz="6350" spc="100">
                <a:solidFill>
                  <a:srgbClr val="ECEDEE"/>
                </a:solidFill>
              </a:rPr>
              <a:t> </a:t>
            </a:r>
            <a:r>
              <a:rPr sz="6350" spc="-10">
                <a:solidFill>
                  <a:srgbClr val="ECEDEE"/>
                </a:solidFill>
              </a:rPr>
              <a:t>PERFORMANCE IMPROVEMENTS</a:t>
            </a:r>
            <a:endParaRPr sz="63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25DAA-7AFC-A724-7C6A-A2057EBB143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20200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617" y="313690"/>
            <a:ext cx="748665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Modeling</a:t>
            </a:r>
            <a:r>
              <a:rPr spc="50"/>
              <a:t> </a:t>
            </a:r>
            <a:r>
              <a:t>Strategy</a:t>
            </a:r>
            <a:r>
              <a:rPr spc="60"/>
              <a:t> </a:t>
            </a:r>
            <a:r>
              <a:t>&amp;</a:t>
            </a:r>
            <a:r>
              <a:rPr spc="85"/>
              <a:t> </a:t>
            </a:r>
            <a:r>
              <a:rPr spc="-10"/>
              <a:t>Experiments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8617" y="1155128"/>
            <a:ext cx="11120120" cy="4341894"/>
          </a:xfrm>
          <a:prstGeom prst="rect">
            <a:avLst/>
          </a:prstGeom>
        </p:spPr>
        <p:txBody>
          <a:bodyPr vert="horz" wrap="square" lIns="0" tIns="27940" rIns="0" bIns="0" rtlCol="0" anchor="t">
            <a:spAutoFit/>
          </a:bodyPr>
          <a:lstStyle/>
          <a:p>
            <a:pPr marL="355600" marR="628015" indent="-343535">
              <a:lnSpc>
                <a:spcPts val="2850"/>
              </a:lnSpc>
              <a:spcBef>
                <a:spcPts val="220"/>
              </a:spcBef>
              <a:buSzPct val="93750"/>
              <a:buFont typeface="Arial MT"/>
              <a:buChar char="•"/>
              <a:tabLst>
                <a:tab pos="355600" algn="l"/>
              </a:tabLst>
            </a:pPr>
            <a:r>
              <a:rPr sz="2400" b="1">
                <a:solidFill>
                  <a:srgbClr val="C50C2F"/>
                </a:solidFill>
                <a:latin typeface="Times New Roman"/>
                <a:cs typeface="Times New Roman"/>
              </a:rPr>
              <a:t>Baseline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:</a:t>
            </a:r>
            <a:r>
              <a:rPr sz="2400" spc="-3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spc="-10">
                <a:solidFill>
                  <a:srgbClr val="0039A6"/>
                </a:solidFill>
                <a:latin typeface="Times New Roman"/>
                <a:cs typeface="Times New Roman"/>
              </a:rPr>
              <a:t>Class-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weighted</a:t>
            </a:r>
            <a:r>
              <a:rPr sz="2400" spc="-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Logistic</a:t>
            </a:r>
            <a:r>
              <a:rPr sz="2400" spc="-5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Regression</a:t>
            </a:r>
            <a:r>
              <a:rPr sz="2400" spc="-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with</a:t>
            </a:r>
            <a:r>
              <a:rPr sz="2400" spc="-3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standardized</a:t>
            </a:r>
            <a:r>
              <a:rPr sz="2400" spc="-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features,</a:t>
            </a:r>
            <a:r>
              <a:rPr sz="2400" spc="-3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spc="-10">
                <a:solidFill>
                  <a:srgbClr val="0039A6"/>
                </a:solidFill>
                <a:latin typeface="Times New Roman"/>
                <a:cs typeface="Times New Roman"/>
              </a:rPr>
              <a:t>stratified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split,achieving</a:t>
            </a:r>
            <a:r>
              <a:rPr lang="en-US" sz="2400" spc="-10">
                <a:solidFill>
                  <a:srgbClr val="0039A6"/>
                </a:solidFill>
                <a:latin typeface="Times New Roman"/>
                <a:cs typeface="Times New Roman"/>
              </a:rPr>
              <a:t> 78</a:t>
            </a:r>
            <a:r>
              <a:rPr lang="en-US" sz="2400">
                <a:solidFill>
                  <a:srgbClr val="0039A6"/>
                </a:solidFill>
                <a:latin typeface="Times New Roman"/>
                <a:cs typeface="Times New Roman"/>
              </a:rPr>
              <a:t>.7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%</a:t>
            </a:r>
            <a:r>
              <a:rPr sz="2400" spc="-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recall</a:t>
            </a:r>
            <a:r>
              <a:rPr sz="2400" spc="-2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on</a:t>
            </a:r>
            <a:r>
              <a:rPr sz="2400" spc="-3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attrition</a:t>
            </a:r>
            <a:r>
              <a:rPr sz="2400" spc="-3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spc="-10">
                <a:solidFill>
                  <a:srgbClr val="0039A6"/>
                </a:solidFill>
                <a:latin typeface="Times New Roman"/>
                <a:cs typeface="Times New Roman"/>
              </a:rPr>
              <a:t>cases.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244475" indent="-231775">
              <a:lnSpc>
                <a:spcPct val="100000"/>
              </a:lnSpc>
              <a:buFont typeface="Arial MT"/>
              <a:buChar char="•"/>
              <a:tabLst>
                <a:tab pos="244475" algn="l"/>
              </a:tabLst>
            </a:pPr>
            <a:r>
              <a:rPr sz="2400" b="1">
                <a:solidFill>
                  <a:srgbClr val="C50C2F"/>
                </a:solidFill>
                <a:latin typeface="Times New Roman"/>
                <a:cs typeface="Times New Roman"/>
              </a:rPr>
              <a:t>Hyperparameter</a:t>
            </a:r>
            <a:r>
              <a:rPr sz="2400" b="1" spc="-20">
                <a:solidFill>
                  <a:srgbClr val="C50C2F"/>
                </a:solidFill>
                <a:latin typeface="Times New Roman"/>
                <a:cs typeface="Times New Roman"/>
              </a:rPr>
              <a:t> </a:t>
            </a:r>
            <a:r>
              <a:rPr sz="2400" b="1">
                <a:solidFill>
                  <a:srgbClr val="C50C2F"/>
                </a:solidFill>
                <a:latin typeface="Times New Roman"/>
                <a:cs typeface="Times New Roman"/>
              </a:rPr>
              <a:t>tuning</a:t>
            </a:r>
            <a:r>
              <a:rPr sz="2400">
                <a:solidFill>
                  <a:srgbClr val="C50C2F"/>
                </a:solidFill>
                <a:latin typeface="Times New Roman"/>
                <a:cs typeface="Times New Roman"/>
              </a:rPr>
              <a:t>: </a:t>
            </a:r>
            <a:r>
              <a:rPr sz="2400" spc="-10">
                <a:solidFill>
                  <a:srgbClr val="0039A6"/>
                </a:solidFill>
                <a:latin typeface="Times New Roman"/>
                <a:cs typeface="Times New Roman"/>
              </a:rPr>
              <a:t>GridSearchCV/RandomizedSearchCV</a:t>
            </a:r>
            <a:r>
              <a:rPr sz="2400" spc="1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spc="-10">
                <a:solidFill>
                  <a:srgbClr val="0039A6"/>
                </a:solidFill>
                <a:latin typeface="Times New Roman"/>
                <a:cs typeface="Times New Roman"/>
              </a:rPr>
              <a:t>optimizing</a:t>
            </a:r>
            <a:endParaRPr sz="2400">
              <a:latin typeface="Times New Roman"/>
              <a:cs typeface="Times New Roman"/>
            </a:endParaRPr>
          </a:p>
          <a:p>
            <a:pPr marL="245745">
              <a:lnSpc>
                <a:spcPts val="2865"/>
              </a:lnSpc>
              <a:spcBef>
                <a:spcPts val="45"/>
              </a:spcBef>
            </a:pP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regularization(C),</a:t>
            </a:r>
            <a:r>
              <a:rPr sz="2400" spc="-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penalty</a:t>
            </a:r>
            <a:r>
              <a:rPr sz="2400" spc="-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type</a:t>
            </a:r>
            <a:r>
              <a:rPr sz="2400" spc="-6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(L1/L2),</a:t>
            </a:r>
            <a:r>
              <a:rPr sz="2400" spc="-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solver,</a:t>
            </a:r>
            <a:r>
              <a:rPr sz="2400" spc="-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and</a:t>
            </a:r>
            <a:r>
              <a:rPr sz="2400" spc="-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class</a:t>
            </a:r>
            <a:r>
              <a:rPr sz="2400" spc="-7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weights</a:t>
            </a:r>
            <a:r>
              <a:rPr sz="2400" spc="-1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across</a:t>
            </a:r>
            <a:r>
              <a:rPr sz="2400" spc="-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stratified</a:t>
            </a:r>
            <a:r>
              <a:rPr sz="2400" spc="-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K-</a:t>
            </a:r>
            <a:r>
              <a:rPr sz="2400" spc="-20">
                <a:solidFill>
                  <a:srgbClr val="0039A6"/>
                </a:solidFill>
                <a:latin typeface="Times New Roman"/>
                <a:cs typeface="Times New Roman"/>
              </a:rPr>
              <a:t>fold</a:t>
            </a:r>
            <a:endParaRPr sz="2400">
              <a:latin typeface="Times New Roman"/>
              <a:cs typeface="Times New Roman"/>
            </a:endParaRPr>
          </a:p>
          <a:p>
            <a:pPr marL="245745">
              <a:lnSpc>
                <a:spcPts val="2865"/>
              </a:lnSpc>
            </a:pPr>
            <a:r>
              <a:rPr sz="2400" spc="-10">
                <a:solidFill>
                  <a:srgbClr val="0039A6"/>
                </a:solidFill>
                <a:latin typeface="Times New Roman"/>
                <a:cs typeface="Times New Roman"/>
              </a:rPr>
              <a:t>cross-validation.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2400">
              <a:latin typeface="Times New Roman"/>
              <a:cs typeface="Times New Roman"/>
            </a:endParaRPr>
          </a:p>
          <a:p>
            <a:pPr marL="243840" marR="1096010" indent="-231775">
              <a:lnSpc>
                <a:spcPts val="2850"/>
              </a:lnSpc>
              <a:buFont typeface="Arial MT"/>
              <a:buChar char="•"/>
              <a:tabLst>
                <a:tab pos="245745" algn="l"/>
              </a:tabLst>
            </a:pPr>
            <a:r>
              <a:rPr sz="2400" b="1">
                <a:solidFill>
                  <a:srgbClr val="C50C2F"/>
                </a:solidFill>
                <a:latin typeface="Times New Roman"/>
                <a:cs typeface="Times New Roman"/>
              </a:rPr>
              <a:t>SMOTE</a:t>
            </a:r>
            <a:r>
              <a:rPr sz="2400" b="1" spc="-20">
                <a:solidFill>
                  <a:srgbClr val="C50C2F"/>
                </a:solidFill>
                <a:latin typeface="Times New Roman"/>
                <a:cs typeface="Times New Roman"/>
              </a:rPr>
              <a:t> </a:t>
            </a:r>
            <a:r>
              <a:rPr sz="2400" b="1">
                <a:solidFill>
                  <a:srgbClr val="C50C2F"/>
                </a:solidFill>
                <a:latin typeface="Times New Roman"/>
                <a:cs typeface="Times New Roman"/>
              </a:rPr>
              <a:t>+</a:t>
            </a:r>
            <a:r>
              <a:rPr sz="2400" b="1" spc="-50">
                <a:solidFill>
                  <a:srgbClr val="C50C2F"/>
                </a:solidFill>
                <a:latin typeface="Times New Roman"/>
                <a:cs typeface="Times New Roman"/>
              </a:rPr>
              <a:t> </a:t>
            </a:r>
            <a:r>
              <a:rPr sz="2400" b="1">
                <a:solidFill>
                  <a:srgbClr val="C50C2F"/>
                </a:solidFill>
                <a:latin typeface="Times New Roman"/>
                <a:cs typeface="Times New Roman"/>
              </a:rPr>
              <a:t>Hyperparameter</a:t>
            </a:r>
            <a:r>
              <a:rPr sz="2400" b="1" spc="-45">
                <a:solidFill>
                  <a:srgbClr val="C50C2F"/>
                </a:solidFill>
                <a:latin typeface="Times New Roman"/>
                <a:cs typeface="Times New Roman"/>
              </a:rPr>
              <a:t> </a:t>
            </a:r>
            <a:r>
              <a:rPr sz="2400" b="1">
                <a:solidFill>
                  <a:srgbClr val="C50C2F"/>
                </a:solidFill>
                <a:latin typeface="Times New Roman"/>
                <a:cs typeface="Times New Roman"/>
              </a:rPr>
              <a:t>tuning</a:t>
            </a:r>
            <a:r>
              <a:rPr sz="2400" b="1" spc="-40">
                <a:solidFill>
                  <a:srgbClr val="C50C2F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C50C2F"/>
                </a:solidFill>
                <a:latin typeface="Times New Roman"/>
                <a:cs typeface="Times New Roman"/>
              </a:rPr>
              <a:t>:</a:t>
            </a:r>
            <a:r>
              <a:rPr sz="2400" spc="-40">
                <a:solidFill>
                  <a:srgbClr val="C50C2F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Using</a:t>
            </a:r>
            <a:r>
              <a:rPr sz="2400" spc="-3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SMOTE</a:t>
            </a:r>
            <a:r>
              <a:rPr sz="2400" spc="-7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to</a:t>
            </a:r>
            <a:r>
              <a:rPr sz="2400" spc="-3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address imbalance</a:t>
            </a:r>
            <a:r>
              <a:rPr sz="2400" spc="-5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spc="-25">
                <a:solidFill>
                  <a:srgbClr val="0039A6"/>
                </a:solidFill>
                <a:latin typeface="Times New Roman"/>
                <a:cs typeface="Times New Roman"/>
              </a:rPr>
              <a:t>and 	</a:t>
            </a:r>
            <a:r>
              <a:rPr sz="2400">
                <a:solidFill>
                  <a:srgbClr val="0039A6"/>
                </a:solidFill>
                <a:latin typeface="Times New Roman"/>
                <a:cs typeface="Times New Roman"/>
              </a:rPr>
              <a:t>hyperparameter</a:t>
            </a:r>
            <a:r>
              <a:rPr sz="2400" spc="-3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spc="-10">
                <a:solidFill>
                  <a:srgbClr val="0039A6"/>
                </a:solidFill>
                <a:latin typeface="Times New Roman"/>
                <a:cs typeface="Times New Roman"/>
              </a:rPr>
              <a:t>tuning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8FFE2-ADA4-39BF-4403-886680D9CD9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20200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617" y="77157"/>
            <a:ext cx="9528175" cy="1226185"/>
          </a:xfrm>
          <a:prstGeom prst="rect">
            <a:avLst/>
          </a:prstGeom>
        </p:spPr>
        <p:txBody>
          <a:bodyPr vert="horz" wrap="square" lIns="0" tIns="2051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t>Evaluation</a:t>
            </a:r>
            <a:r>
              <a:rPr spc="40"/>
              <a:t> </a:t>
            </a:r>
            <a:r>
              <a:rPr spc="-10"/>
              <a:t>Analysis</a:t>
            </a:r>
          </a:p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7466965" algn="l"/>
              </a:tabLst>
            </a:pPr>
            <a:r>
              <a:rPr sz="2000" b="0">
                <a:latin typeface="Arial MT"/>
                <a:cs typeface="Arial MT"/>
              </a:rPr>
              <a:t>Tested</a:t>
            </a:r>
            <a:r>
              <a:rPr sz="2000" b="0" spc="-60">
                <a:latin typeface="Arial MT"/>
                <a:cs typeface="Arial MT"/>
              </a:rPr>
              <a:t> </a:t>
            </a:r>
            <a:r>
              <a:rPr sz="2000" b="0">
                <a:latin typeface="Arial MT"/>
                <a:cs typeface="Arial MT"/>
              </a:rPr>
              <a:t>5</a:t>
            </a:r>
            <a:r>
              <a:rPr sz="2000" b="0" spc="-35">
                <a:latin typeface="Arial MT"/>
                <a:cs typeface="Arial MT"/>
              </a:rPr>
              <a:t> </a:t>
            </a:r>
            <a:r>
              <a:rPr sz="2000" b="0">
                <a:latin typeface="Arial MT"/>
                <a:cs typeface="Arial MT"/>
              </a:rPr>
              <a:t>ML</a:t>
            </a:r>
            <a:r>
              <a:rPr sz="2000" b="0" spc="-50">
                <a:latin typeface="Arial MT"/>
                <a:cs typeface="Arial MT"/>
              </a:rPr>
              <a:t> </a:t>
            </a:r>
            <a:r>
              <a:rPr sz="2000" b="0">
                <a:latin typeface="Arial MT"/>
                <a:cs typeface="Arial MT"/>
              </a:rPr>
              <a:t>models</a:t>
            </a:r>
            <a:r>
              <a:rPr sz="2000" b="0" spc="-20">
                <a:latin typeface="Arial MT"/>
                <a:cs typeface="Arial MT"/>
              </a:rPr>
              <a:t> </a:t>
            </a:r>
            <a:r>
              <a:rPr sz="2000" b="0">
                <a:latin typeface="Arial MT"/>
                <a:cs typeface="Arial MT"/>
              </a:rPr>
              <a:t>with</a:t>
            </a:r>
            <a:r>
              <a:rPr sz="2000" b="0" spc="25">
                <a:latin typeface="Arial MT"/>
                <a:cs typeface="Arial MT"/>
              </a:rPr>
              <a:t> </a:t>
            </a:r>
            <a:r>
              <a:rPr sz="2000" b="0">
                <a:latin typeface="Arial MT"/>
                <a:cs typeface="Arial MT"/>
              </a:rPr>
              <a:t>SMOTE</a:t>
            </a:r>
            <a:r>
              <a:rPr sz="2000" b="0" spc="-45">
                <a:latin typeface="Arial MT"/>
                <a:cs typeface="Arial MT"/>
              </a:rPr>
              <a:t> </a:t>
            </a:r>
            <a:r>
              <a:rPr sz="2000" b="0">
                <a:latin typeface="Arial MT"/>
                <a:cs typeface="Arial MT"/>
              </a:rPr>
              <a:t>to</a:t>
            </a:r>
            <a:r>
              <a:rPr sz="2000" b="0" spc="-50">
                <a:latin typeface="Arial MT"/>
                <a:cs typeface="Arial MT"/>
              </a:rPr>
              <a:t> </a:t>
            </a:r>
            <a:r>
              <a:rPr sz="2000" b="0">
                <a:latin typeface="Arial MT"/>
                <a:cs typeface="Arial MT"/>
              </a:rPr>
              <a:t>validate</a:t>
            </a:r>
            <a:r>
              <a:rPr sz="2000" b="0" spc="10">
                <a:latin typeface="Arial MT"/>
                <a:cs typeface="Arial MT"/>
              </a:rPr>
              <a:t> </a:t>
            </a:r>
            <a:r>
              <a:rPr sz="2000" b="0">
                <a:latin typeface="Arial MT"/>
                <a:cs typeface="Arial MT"/>
              </a:rPr>
              <a:t>Logistic</a:t>
            </a:r>
            <a:r>
              <a:rPr sz="2000" b="0" spc="-10">
                <a:latin typeface="Arial MT"/>
                <a:cs typeface="Arial MT"/>
              </a:rPr>
              <a:t> Regression</a:t>
            </a:r>
            <a:r>
              <a:rPr sz="2000" b="0">
                <a:latin typeface="Arial MT"/>
                <a:cs typeface="Arial MT"/>
              </a:rPr>
              <a:t>	as the</a:t>
            </a:r>
            <a:r>
              <a:rPr sz="2000" b="0" spc="-30">
                <a:latin typeface="Arial MT"/>
                <a:cs typeface="Arial MT"/>
              </a:rPr>
              <a:t> </a:t>
            </a:r>
            <a:r>
              <a:rPr sz="2000" b="0">
                <a:latin typeface="Arial MT"/>
                <a:cs typeface="Arial MT"/>
              </a:rPr>
              <a:t>best </a:t>
            </a:r>
            <a:r>
              <a:rPr sz="2000" b="0" spc="-10">
                <a:latin typeface="Arial MT"/>
                <a:cs typeface="Arial MT"/>
              </a:rPr>
              <a:t>choice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075" y="1550634"/>
            <a:ext cx="8517019" cy="479685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7D427-2482-8CBF-16F7-2A7066E163B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20200" y="6416527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1868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30"/>
              </a:spcBef>
            </a:pPr>
            <a:r>
              <a:t>Performance</a:t>
            </a:r>
            <a:r>
              <a:rPr spc="150"/>
              <a:t> </a:t>
            </a:r>
            <a:r>
              <a:t>Metrics</a:t>
            </a:r>
            <a:r>
              <a:rPr spc="160"/>
              <a:t> </a:t>
            </a:r>
            <a:r>
              <a:rPr spc="-10"/>
              <a:t>comparison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750" y="847725"/>
            <a:ext cx="9096375" cy="52863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9B8B3-1A46-1A6C-7085-0EB67C8F462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20200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4792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30"/>
              </a:spcBef>
            </a:pPr>
            <a:r>
              <a:t>Confusion</a:t>
            </a:r>
            <a:r>
              <a:rPr spc="60"/>
              <a:t> </a:t>
            </a:r>
            <a:r>
              <a:t>Matrix</a:t>
            </a:r>
            <a:r>
              <a:rPr spc="60"/>
              <a:t> </a:t>
            </a:r>
            <a:r>
              <a:rPr spc="-10"/>
              <a:t>Comparison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639" y="1349396"/>
            <a:ext cx="11084960" cy="451798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B2222-833E-6AC3-9685-ACC399D807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20200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91825" y="6400800"/>
              <a:ext cx="923925" cy="1714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0525" y="6162675"/>
              <a:ext cx="1285875" cy="457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76600" y="1028572"/>
              <a:ext cx="2462276" cy="178600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76800" y="1028572"/>
              <a:ext cx="4091051" cy="178600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53050" y="1809623"/>
              <a:ext cx="1938401" cy="17860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52725" y="2590673"/>
              <a:ext cx="4043426" cy="17860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43600" y="2590673"/>
              <a:ext cx="3538601" cy="1786001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54121" y="1254696"/>
            <a:ext cx="5692140" cy="2581476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532765">
              <a:lnSpc>
                <a:spcPts val="6890"/>
              </a:lnSpc>
              <a:spcBef>
                <a:spcPts val="130"/>
              </a:spcBef>
            </a:pPr>
            <a:r>
              <a:rPr sz="6350">
                <a:solidFill>
                  <a:srgbClr val="ECEDEE"/>
                </a:solidFill>
              </a:rPr>
              <a:t>Key Findings</a:t>
            </a:r>
            <a:endParaRPr lang="en-US" sz="6350">
              <a:solidFill>
                <a:srgbClr val="ECEDEE"/>
              </a:solidFill>
            </a:endParaRPr>
          </a:p>
          <a:p>
            <a:pPr marL="12700" marR="5080" indent="2599055">
              <a:lnSpc>
                <a:spcPts val="6160"/>
              </a:lnSpc>
              <a:spcBef>
                <a:spcPts val="690"/>
              </a:spcBef>
            </a:pPr>
            <a:r>
              <a:rPr sz="6350">
                <a:solidFill>
                  <a:srgbClr val="ECEDEE"/>
                </a:solidFill>
              </a:rPr>
              <a:t>&amp;</a:t>
            </a:r>
            <a:r>
              <a:rPr sz="6350" spc="-50">
                <a:solidFill>
                  <a:srgbClr val="ECEDEE"/>
                </a:solidFill>
              </a:rPr>
              <a:t> </a:t>
            </a:r>
            <a:r>
              <a:rPr sz="6350">
                <a:solidFill>
                  <a:srgbClr val="ECEDEE"/>
                </a:solidFill>
              </a:rPr>
              <a:t>Business</a:t>
            </a:r>
            <a:r>
              <a:rPr sz="6350" spc="60">
                <a:solidFill>
                  <a:srgbClr val="ECEDEE"/>
                </a:solidFill>
              </a:rPr>
              <a:t> </a:t>
            </a:r>
            <a:r>
              <a:rPr sz="6350" spc="-10">
                <a:solidFill>
                  <a:srgbClr val="ECEDEE"/>
                </a:solidFill>
              </a:rPr>
              <a:t>Impact</a:t>
            </a:r>
            <a:endParaRPr sz="635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2980E86-53B5-FDD2-B4B6-529CCF67D7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20200" y="6411433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3631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30"/>
              </a:spcBef>
            </a:pPr>
            <a:r>
              <a:t>Key</a:t>
            </a:r>
            <a:r>
              <a:rPr spc="50"/>
              <a:t> </a:t>
            </a:r>
            <a:r>
              <a:t>Findings</a:t>
            </a:r>
            <a:r>
              <a:rPr spc="50"/>
              <a:t> </a:t>
            </a:r>
            <a:r>
              <a:t>and</a:t>
            </a:r>
            <a:r>
              <a:rPr spc="65"/>
              <a:t> </a:t>
            </a:r>
            <a:r>
              <a:t>Business</a:t>
            </a:r>
            <a:r>
              <a:rPr spc="55"/>
              <a:t> </a:t>
            </a:r>
            <a:r>
              <a:rPr spc="-10"/>
              <a:t>Impact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t>Key</a:t>
            </a:r>
            <a:r>
              <a:rPr spc="70"/>
              <a:t> </a:t>
            </a:r>
            <a:r>
              <a:rPr spc="-10"/>
              <a:t>Findings</a:t>
            </a:r>
          </a:p>
          <a:p>
            <a:pPr marL="298450" marR="5080" indent="-285750">
              <a:lnSpc>
                <a:spcPct val="100400"/>
              </a:lnSpc>
              <a:spcBef>
                <a:spcPts val="1845"/>
              </a:spcBef>
              <a:buSzPct val="93750"/>
              <a:buFont typeface="Arial MT"/>
              <a:buChar char="•"/>
              <a:tabLst>
                <a:tab pos="298450" algn="l"/>
              </a:tabLst>
            </a:pPr>
            <a:r>
              <a:rPr sz="2400">
                <a:solidFill>
                  <a:srgbClr val="0039A6"/>
                </a:solidFill>
              </a:rPr>
              <a:t>Clear</a:t>
            </a:r>
            <a:r>
              <a:rPr sz="2400" spc="-20">
                <a:solidFill>
                  <a:srgbClr val="0039A6"/>
                </a:solidFill>
              </a:rPr>
              <a:t> </a:t>
            </a:r>
            <a:r>
              <a:rPr sz="2400">
                <a:solidFill>
                  <a:srgbClr val="0039A6"/>
                </a:solidFill>
              </a:rPr>
              <a:t>risk</a:t>
            </a:r>
            <a:r>
              <a:rPr sz="2400" spc="-55">
                <a:solidFill>
                  <a:srgbClr val="0039A6"/>
                </a:solidFill>
              </a:rPr>
              <a:t> </a:t>
            </a:r>
            <a:r>
              <a:rPr sz="2400">
                <a:solidFill>
                  <a:srgbClr val="0039A6"/>
                </a:solidFill>
              </a:rPr>
              <a:t>factors</a:t>
            </a:r>
            <a:r>
              <a:rPr sz="2400" spc="-35">
                <a:solidFill>
                  <a:srgbClr val="0039A6"/>
                </a:solidFill>
              </a:rPr>
              <a:t> </a:t>
            </a:r>
            <a:r>
              <a:rPr sz="2400">
                <a:solidFill>
                  <a:srgbClr val="0039A6"/>
                </a:solidFill>
              </a:rPr>
              <a:t>identified:</a:t>
            </a:r>
            <a:r>
              <a:rPr sz="2400" spc="-15">
                <a:solidFill>
                  <a:srgbClr val="0039A6"/>
                </a:solidFill>
              </a:rPr>
              <a:t> </a:t>
            </a:r>
            <a:r>
              <a:rPr sz="2400" b="0" spc="-10">
                <a:solidFill>
                  <a:srgbClr val="0039A6"/>
                </a:solidFill>
                <a:latin typeface="Times New Roman"/>
                <a:cs typeface="Times New Roman"/>
              </a:rPr>
              <a:t>Overtime, </a:t>
            </a:r>
            <a:r>
              <a:rPr sz="2400" b="0">
                <a:solidFill>
                  <a:srgbClr val="0039A6"/>
                </a:solidFill>
                <a:latin typeface="Times New Roman"/>
                <a:cs typeface="Times New Roman"/>
              </a:rPr>
              <a:t>low</a:t>
            </a:r>
            <a:r>
              <a:rPr sz="2400" b="0" spc="-4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b="0">
                <a:solidFill>
                  <a:srgbClr val="0039A6"/>
                </a:solidFill>
                <a:latin typeface="Times New Roman"/>
                <a:cs typeface="Times New Roman"/>
              </a:rPr>
              <a:t>income,</a:t>
            </a:r>
            <a:r>
              <a:rPr sz="2400" b="0" spc="-3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b="0">
                <a:solidFill>
                  <a:srgbClr val="0039A6"/>
                </a:solidFill>
                <a:latin typeface="Times New Roman"/>
                <a:cs typeface="Times New Roman"/>
              </a:rPr>
              <a:t>lack</a:t>
            </a:r>
            <a:r>
              <a:rPr sz="2400" b="0" spc="-1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b="0">
                <a:solidFill>
                  <a:srgbClr val="0039A6"/>
                </a:solidFill>
                <a:latin typeface="Times New Roman"/>
                <a:cs typeface="Times New Roman"/>
              </a:rPr>
              <a:t>of</a:t>
            </a:r>
            <a:r>
              <a:rPr sz="2400" b="0" spc="-3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b="0">
                <a:solidFill>
                  <a:srgbClr val="0039A6"/>
                </a:solidFill>
                <a:latin typeface="Times New Roman"/>
                <a:cs typeface="Times New Roman"/>
              </a:rPr>
              <a:t>promotions,</a:t>
            </a:r>
            <a:r>
              <a:rPr sz="2400" b="0" spc="-3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b="0" spc="-10">
                <a:solidFill>
                  <a:srgbClr val="0039A6"/>
                </a:solidFill>
                <a:latin typeface="Times New Roman"/>
                <a:cs typeface="Times New Roman"/>
              </a:rPr>
              <a:t>heavy </a:t>
            </a:r>
            <a:r>
              <a:rPr sz="2400" b="0">
                <a:solidFill>
                  <a:srgbClr val="0039A6"/>
                </a:solidFill>
                <a:latin typeface="Times New Roman"/>
                <a:cs typeface="Times New Roman"/>
              </a:rPr>
              <a:t>travel,</a:t>
            </a:r>
            <a:r>
              <a:rPr sz="2400" b="0" spc="-4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b="0">
                <a:solidFill>
                  <a:srgbClr val="0039A6"/>
                </a:solidFill>
                <a:latin typeface="Times New Roman"/>
                <a:cs typeface="Times New Roman"/>
              </a:rPr>
              <a:t>and</a:t>
            </a:r>
            <a:r>
              <a:rPr sz="2400" b="0" spc="-3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b="0">
                <a:solidFill>
                  <a:srgbClr val="0039A6"/>
                </a:solidFill>
                <a:latin typeface="Times New Roman"/>
                <a:cs typeface="Times New Roman"/>
              </a:rPr>
              <a:t>manager</a:t>
            </a:r>
            <a:r>
              <a:rPr sz="2400" b="0" spc="-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b="0">
                <a:solidFill>
                  <a:srgbClr val="0039A6"/>
                </a:solidFill>
                <a:latin typeface="Times New Roman"/>
                <a:cs typeface="Times New Roman"/>
              </a:rPr>
              <a:t>relationship</a:t>
            </a:r>
            <a:r>
              <a:rPr sz="2400" b="0" spc="-5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b="0" spc="-10">
                <a:solidFill>
                  <a:srgbClr val="0039A6"/>
                </a:solidFill>
                <a:latin typeface="Times New Roman"/>
                <a:cs typeface="Times New Roman"/>
              </a:rPr>
              <a:t>length.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780"/>
              </a:spcBef>
              <a:buSzPct val="93750"/>
              <a:buFont typeface="Arial MT"/>
              <a:buChar char="•"/>
              <a:tabLst>
                <a:tab pos="297815" algn="l"/>
              </a:tabLst>
            </a:pPr>
            <a:r>
              <a:rPr sz="2400">
                <a:solidFill>
                  <a:srgbClr val="0039A6"/>
                </a:solidFill>
              </a:rPr>
              <a:t>Prioritized</a:t>
            </a:r>
            <a:r>
              <a:rPr sz="2400" spc="-40">
                <a:solidFill>
                  <a:srgbClr val="0039A6"/>
                </a:solidFill>
              </a:rPr>
              <a:t> </a:t>
            </a:r>
            <a:r>
              <a:rPr sz="2400">
                <a:solidFill>
                  <a:srgbClr val="0039A6"/>
                </a:solidFill>
              </a:rPr>
              <a:t>retention</a:t>
            </a:r>
            <a:r>
              <a:rPr sz="2400" spc="-65">
                <a:solidFill>
                  <a:srgbClr val="0039A6"/>
                </a:solidFill>
              </a:rPr>
              <a:t> </a:t>
            </a:r>
            <a:r>
              <a:rPr sz="2400" spc="-10">
                <a:solidFill>
                  <a:srgbClr val="0039A6"/>
                </a:solidFill>
              </a:rPr>
              <a:t>focus.</a:t>
            </a:r>
            <a:endParaRPr sz="2400"/>
          </a:p>
          <a:p>
            <a:pPr marL="297815" indent="-285115">
              <a:lnSpc>
                <a:spcPct val="100000"/>
              </a:lnSpc>
              <a:spcBef>
                <a:spcPts val="1775"/>
              </a:spcBef>
              <a:buSzPct val="93750"/>
              <a:buFont typeface="Arial MT"/>
              <a:buChar char="•"/>
              <a:tabLst>
                <a:tab pos="297815" algn="l"/>
              </a:tabLst>
            </a:pPr>
            <a:r>
              <a:rPr sz="2400">
                <a:solidFill>
                  <a:srgbClr val="0039A6"/>
                </a:solidFill>
              </a:rPr>
              <a:t>Consistent,</a:t>
            </a:r>
            <a:r>
              <a:rPr sz="2400" spc="-80">
                <a:solidFill>
                  <a:srgbClr val="0039A6"/>
                </a:solidFill>
              </a:rPr>
              <a:t> </a:t>
            </a:r>
            <a:r>
              <a:rPr sz="2400">
                <a:solidFill>
                  <a:srgbClr val="0039A6"/>
                </a:solidFill>
              </a:rPr>
              <a:t>reliable</a:t>
            </a:r>
            <a:r>
              <a:rPr sz="2400" spc="-85">
                <a:solidFill>
                  <a:srgbClr val="0039A6"/>
                </a:solidFill>
              </a:rPr>
              <a:t> </a:t>
            </a:r>
            <a:r>
              <a:rPr sz="2400">
                <a:solidFill>
                  <a:srgbClr val="0039A6"/>
                </a:solidFill>
              </a:rPr>
              <a:t>performance:</a:t>
            </a:r>
            <a:r>
              <a:rPr sz="2400" spc="-75">
                <a:solidFill>
                  <a:srgbClr val="0039A6"/>
                </a:solidFill>
              </a:rPr>
              <a:t> </a:t>
            </a:r>
            <a:r>
              <a:rPr sz="2400" b="0" spc="-25">
                <a:solidFill>
                  <a:srgbClr val="0039A6"/>
                </a:solidFill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298450" marR="808355">
              <a:lnSpc>
                <a:spcPct val="100400"/>
              </a:lnSpc>
              <a:spcBef>
                <a:spcPts val="35"/>
              </a:spcBef>
            </a:pPr>
            <a:r>
              <a:rPr sz="2400" b="0">
                <a:solidFill>
                  <a:srgbClr val="0039A6"/>
                </a:solidFill>
                <a:latin typeface="Times New Roman"/>
                <a:cs typeface="Times New Roman"/>
              </a:rPr>
              <a:t>model</a:t>
            </a:r>
            <a:r>
              <a:rPr sz="2400" b="0" spc="-4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b="0">
                <a:solidFill>
                  <a:srgbClr val="0039A6"/>
                </a:solidFill>
                <a:latin typeface="Times New Roman"/>
                <a:cs typeface="Times New Roman"/>
              </a:rPr>
              <a:t>outperforms</a:t>
            </a:r>
            <a:r>
              <a:rPr sz="2400" b="0" spc="-3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b="0">
                <a:solidFill>
                  <a:srgbClr val="0039A6"/>
                </a:solidFill>
                <a:latin typeface="Times New Roman"/>
                <a:cs typeface="Times New Roman"/>
              </a:rPr>
              <a:t>all</a:t>
            </a:r>
            <a:r>
              <a:rPr sz="2400" b="0" spc="-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b="0">
                <a:solidFill>
                  <a:srgbClr val="0039A6"/>
                </a:solidFill>
                <a:latin typeface="Times New Roman"/>
                <a:cs typeface="Times New Roman"/>
              </a:rPr>
              <a:t>other</a:t>
            </a:r>
            <a:r>
              <a:rPr sz="2400" b="0" spc="-1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b="0" spc="-10">
                <a:solidFill>
                  <a:srgbClr val="0039A6"/>
                </a:solidFill>
                <a:latin typeface="Times New Roman"/>
                <a:cs typeface="Times New Roman"/>
              </a:rPr>
              <a:t>tested </a:t>
            </a:r>
            <a:r>
              <a:rPr sz="2400" b="0">
                <a:solidFill>
                  <a:srgbClr val="0039A6"/>
                </a:solidFill>
                <a:latin typeface="Times New Roman"/>
                <a:cs typeface="Times New Roman"/>
              </a:rPr>
              <a:t>models</a:t>
            </a:r>
            <a:r>
              <a:rPr sz="2400" b="0" spc="-2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b="0">
                <a:solidFill>
                  <a:srgbClr val="0039A6"/>
                </a:solidFill>
                <a:latin typeface="Times New Roman"/>
                <a:cs typeface="Times New Roman"/>
              </a:rPr>
              <a:t>in</a:t>
            </a:r>
            <a:r>
              <a:rPr sz="2400" b="0" spc="-2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b="0">
                <a:solidFill>
                  <a:srgbClr val="0039A6"/>
                </a:solidFill>
                <a:latin typeface="Times New Roman"/>
                <a:cs typeface="Times New Roman"/>
              </a:rPr>
              <a:t>recall,</a:t>
            </a:r>
            <a:r>
              <a:rPr sz="2400" b="0" spc="-15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b="0" spc="-10">
                <a:solidFill>
                  <a:srgbClr val="0039A6"/>
                </a:solidFill>
                <a:latin typeface="Times New Roman"/>
                <a:cs typeface="Times New Roman"/>
              </a:rPr>
              <a:t>ROC-</a:t>
            </a:r>
            <a:r>
              <a:rPr sz="2400" b="0">
                <a:solidFill>
                  <a:srgbClr val="0039A6"/>
                </a:solidFill>
                <a:latin typeface="Times New Roman"/>
                <a:cs typeface="Times New Roman"/>
              </a:rPr>
              <a:t>AUC,</a:t>
            </a:r>
            <a:r>
              <a:rPr sz="2400" b="0" spc="-40">
                <a:solidFill>
                  <a:srgbClr val="0039A6"/>
                </a:solidFill>
                <a:latin typeface="Times New Roman"/>
                <a:cs typeface="Times New Roman"/>
              </a:rPr>
              <a:t> </a:t>
            </a:r>
            <a:r>
              <a:rPr sz="2400" b="0" spc="-25">
                <a:solidFill>
                  <a:srgbClr val="0039A6"/>
                </a:solidFill>
                <a:latin typeface="Times New Roman"/>
                <a:cs typeface="Times New Roman"/>
              </a:rPr>
              <a:t>and </a:t>
            </a:r>
            <a:r>
              <a:rPr sz="2400" b="0" spc="-10">
                <a:solidFill>
                  <a:srgbClr val="0039A6"/>
                </a:solidFill>
                <a:latin typeface="Times New Roman"/>
                <a:cs typeface="Times New Roman"/>
              </a:rPr>
              <a:t>interpretability.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Business</a:t>
            </a:r>
            <a:r>
              <a:rPr spc="95"/>
              <a:t> </a:t>
            </a:r>
            <a:r>
              <a:rPr spc="-10"/>
              <a:t>Impact</a:t>
            </a:r>
          </a:p>
          <a:p>
            <a:pPr marL="297815" indent="-285115">
              <a:lnSpc>
                <a:spcPct val="100000"/>
              </a:lnSpc>
              <a:spcBef>
                <a:spcPts val="1855"/>
              </a:spcBef>
              <a:buSzPct val="93750"/>
              <a:buFont typeface="Arial MT"/>
              <a:buChar char="•"/>
              <a:tabLst>
                <a:tab pos="297815" algn="l"/>
              </a:tabLst>
            </a:pPr>
            <a:r>
              <a:rPr sz="2400" b="0">
                <a:solidFill>
                  <a:srgbClr val="0038A6"/>
                </a:solidFill>
                <a:latin typeface="Times New Roman"/>
                <a:cs typeface="Times New Roman"/>
              </a:rPr>
              <a:t>Shift</a:t>
            </a:r>
            <a:r>
              <a:rPr sz="2400" b="0" spc="-5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400" b="0">
                <a:solidFill>
                  <a:srgbClr val="0038A6"/>
                </a:solidFill>
                <a:latin typeface="Times New Roman"/>
                <a:cs typeface="Times New Roman"/>
              </a:rPr>
              <a:t>from</a:t>
            </a:r>
            <a:r>
              <a:rPr sz="2400" b="0" spc="-7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400" b="0">
                <a:solidFill>
                  <a:srgbClr val="0038A6"/>
                </a:solidFill>
                <a:latin typeface="Times New Roman"/>
                <a:cs typeface="Times New Roman"/>
              </a:rPr>
              <a:t>Reactive</a:t>
            </a:r>
            <a:r>
              <a:rPr sz="2400" b="0" spc="-25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400" b="0">
                <a:solidFill>
                  <a:srgbClr val="0038A6"/>
                </a:solidFill>
                <a:latin typeface="Times New Roman"/>
                <a:cs typeface="Times New Roman"/>
              </a:rPr>
              <a:t>to</a:t>
            </a:r>
            <a:r>
              <a:rPr sz="2400" b="0" spc="-5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400" b="0">
                <a:solidFill>
                  <a:srgbClr val="0038A6"/>
                </a:solidFill>
                <a:latin typeface="Times New Roman"/>
                <a:cs typeface="Times New Roman"/>
              </a:rPr>
              <a:t>Proactive</a:t>
            </a:r>
            <a:r>
              <a:rPr sz="2400" b="0" spc="5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400" b="0" spc="-25">
                <a:solidFill>
                  <a:srgbClr val="0038A6"/>
                </a:solidFill>
                <a:latin typeface="Times New Roman"/>
                <a:cs typeface="Times New Roman"/>
              </a:rPr>
              <a:t>HR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775"/>
              </a:spcBef>
              <a:buSzPct val="93750"/>
              <a:buFont typeface="Arial MT"/>
              <a:buChar char="•"/>
              <a:tabLst>
                <a:tab pos="297815" algn="l"/>
              </a:tabLst>
            </a:pPr>
            <a:r>
              <a:rPr sz="2400" b="0">
                <a:solidFill>
                  <a:srgbClr val="0038A6"/>
                </a:solidFill>
                <a:latin typeface="Times New Roman"/>
                <a:cs typeface="Times New Roman"/>
              </a:rPr>
              <a:t>Significant</a:t>
            </a:r>
            <a:r>
              <a:rPr sz="2400" b="0" spc="-3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400" b="0">
                <a:solidFill>
                  <a:srgbClr val="0038A6"/>
                </a:solidFill>
                <a:latin typeface="Times New Roman"/>
                <a:cs typeface="Times New Roman"/>
              </a:rPr>
              <a:t>Cost</a:t>
            </a:r>
            <a:r>
              <a:rPr sz="2400" b="0" spc="-15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400" b="0">
                <a:solidFill>
                  <a:srgbClr val="0038A6"/>
                </a:solidFill>
                <a:latin typeface="Times New Roman"/>
                <a:cs typeface="Times New Roman"/>
              </a:rPr>
              <a:t>Savings</a:t>
            </a:r>
            <a:r>
              <a:rPr sz="2400" b="0" spc="-5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400" b="0" spc="-10">
                <a:solidFill>
                  <a:srgbClr val="0038A6"/>
                </a:solidFill>
                <a:latin typeface="Times New Roman"/>
                <a:cs typeface="Times New Roman"/>
              </a:rPr>
              <a:t>Potential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855"/>
              </a:spcBef>
              <a:buSzPct val="93750"/>
              <a:buFont typeface="Arial MT"/>
              <a:buChar char="•"/>
              <a:tabLst>
                <a:tab pos="297815" algn="l"/>
              </a:tabLst>
            </a:pPr>
            <a:r>
              <a:rPr sz="2400" b="0">
                <a:solidFill>
                  <a:srgbClr val="0038A6"/>
                </a:solidFill>
                <a:latin typeface="Times New Roman"/>
                <a:cs typeface="Times New Roman"/>
              </a:rPr>
              <a:t>Greater</a:t>
            </a:r>
            <a:r>
              <a:rPr sz="2400" b="0" spc="-35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400" b="0" spc="-10">
                <a:solidFill>
                  <a:srgbClr val="0038A6"/>
                </a:solidFill>
                <a:latin typeface="Times New Roman"/>
                <a:cs typeface="Times New Roman"/>
              </a:rPr>
              <a:t>stability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775"/>
              </a:spcBef>
              <a:buSzPct val="93750"/>
              <a:buFont typeface="Arial MT"/>
              <a:buChar char="•"/>
              <a:tabLst>
                <a:tab pos="297815" algn="l"/>
              </a:tabLst>
            </a:pPr>
            <a:r>
              <a:rPr sz="2400" b="0">
                <a:solidFill>
                  <a:srgbClr val="0038A6"/>
                </a:solidFill>
                <a:latin typeface="Times New Roman"/>
                <a:cs typeface="Times New Roman"/>
              </a:rPr>
              <a:t>Higher</a:t>
            </a:r>
            <a:r>
              <a:rPr sz="2400" b="0" spc="1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400" b="0" spc="-10">
                <a:solidFill>
                  <a:srgbClr val="0038A6"/>
                </a:solidFill>
                <a:latin typeface="Times New Roman"/>
                <a:cs typeface="Times New Roman"/>
              </a:rPr>
              <a:t>productivity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775"/>
              </a:spcBef>
              <a:buSzPct val="93750"/>
              <a:buFont typeface="Arial MT"/>
              <a:buChar char="•"/>
              <a:tabLst>
                <a:tab pos="297815" algn="l"/>
              </a:tabLst>
            </a:pPr>
            <a:r>
              <a:rPr sz="2400" b="0">
                <a:solidFill>
                  <a:srgbClr val="0038A6"/>
                </a:solidFill>
                <a:latin typeface="Times New Roman"/>
                <a:cs typeface="Times New Roman"/>
              </a:rPr>
              <a:t>Smarter</a:t>
            </a:r>
            <a:r>
              <a:rPr sz="2400" b="0" spc="-6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400" b="0">
                <a:solidFill>
                  <a:srgbClr val="0038A6"/>
                </a:solidFill>
                <a:latin typeface="Times New Roman"/>
                <a:cs typeface="Times New Roman"/>
              </a:rPr>
              <a:t>HR</a:t>
            </a:r>
            <a:r>
              <a:rPr sz="2400" b="0" spc="35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400" b="0" spc="-10">
                <a:solidFill>
                  <a:srgbClr val="0038A6"/>
                </a:solidFill>
                <a:latin typeface="Times New Roman"/>
                <a:cs typeface="Times New Roman"/>
              </a:rPr>
              <a:t>decisions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855"/>
              </a:spcBef>
              <a:buSzPct val="93750"/>
              <a:buFont typeface="Arial MT"/>
              <a:buChar char="•"/>
              <a:tabLst>
                <a:tab pos="297815" algn="l"/>
              </a:tabLst>
            </a:pPr>
            <a:r>
              <a:rPr sz="2400" b="0">
                <a:solidFill>
                  <a:srgbClr val="0038A6"/>
                </a:solidFill>
                <a:latin typeface="Times New Roman"/>
                <a:cs typeface="Times New Roman"/>
              </a:rPr>
              <a:t>Enhanced</a:t>
            </a:r>
            <a:r>
              <a:rPr sz="2400" b="0" spc="-20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400" b="0">
                <a:solidFill>
                  <a:srgbClr val="0038A6"/>
                </a:solidFill>
                <a:latin typeface="Times New Roman"/>
                <a:cs typeface="Times New Roman"/>
              </a:rPr>
              <a:t>employee</a:t>
            </a:r>
            <a:r>
              <a:rPr sz="2400" b="0" spc="-25">
                <a:solidFill>
                  <a:srgbClr val="0038A6"/>
                </a:solidFill>
                <a:latin typeface="Times New Roman"/>
                <a:cs typeface="Times New Roman"/>
              </a:rPr>
              <a:t> </a:t>
            </a:r>
            <a:r>
              <a:rPr sz="2400" b="0" spc="-10">
                <a:solidFill>
                  <a:srgbClr val="0038A6"/>
                </a:solidFill>
                <a:latin typeface="Times New Roman"/>
                <a:cs typeface="Times New Roman"/>
              </a:rPr>
              <a:t>retention: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C0129-58A9-FC4D-1CB5-E2BE75B22C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20200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9262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30"/>
              </a:spcBef>
            </a:pPr>
            <a:r>
              <a:t>Recommendation</a:t>
            </a:r>
            <a:r>
              <a:rPr spc="85"/>
              <a:t> </a:t>
            </a:r>
            <a:r>
              <a:t>&amp;</a:t>
            </a:r>
            <a:r>
              <a:rPr spc="110"/>
              <a:t> </a:t>
            </a:r>
            <a:r>
              <a:rPr spc="-1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30"/>
              </a:spcBef>
              <a:buSzPct val="92500"/>
              <a:buFont typeface="Arial MT"/>
              <a:buChar char="•"/>
              <a:tabLst>
                <a:tab pos="298450" algn="l"/>
              </a:tabLst>
            </a:pPr>
            <a:r>
              <a:rPr b="1">
                <a:latin typeface="Times New Roman"/>
                <a:cs typeface="Times New Roman"/>
              </a:rPr>
              <a:t>Deploy</a:t>
            </a:r>
            <a:r>
              <a:rPr b="1" spc="-55">
                <a:latin typeface="Times New Roman"/>
                <a:cs typeface="Times New Roman"/>
              </a:rPr>
              <a:t> </a:t>
            </a:r>
            <a:r>
              <a:rPr b="1">
                <a:latin typeface="Times New Roman"/>
                <a:cs typeface="Times New Roman"/>
              </a:rPr>
              <a:t>the</a:t>
            </a:r>
            <a:r>
              <a:rPr b="1" spc="-60">
                <a:latin typeface="Times New Roman"/>
                <a:cs typeface="Times New Roman"/>
              </a:rPr>
              <a:t> </a:t>
            </a:r>
            <a:r>
              <a:rPr b="1">
                <a:latin typeface="Times New Roman"/>
                <a:cs typeface="Times New Roman"/>
              </a:rPr>
              <a:t>attrition</a:t>
            </a:r>
            <a:r>
              <a:rPr b="1" spc="-50">
                <a:latin typeface="Times New Roman"/>
                <a:cs typeface="Times New Roman"/>
              </a:rPr>
              <a:t> </a:t>
            </a:r>
            <a:r>
              <a:rPr b="1">
                <a:latin typeface="Times New Roman"/>
                <a:cs typeface="Times New Roman"/>
              </a:rPr>
              <a:t>prediction</a:t>
            </a:r>
            <a:r>
              <a:rPr b="1" spc="-25">
                <a:latin typeface="Times New Roman"/>
                <a:cs typeface="Times New Roman"/>
              </a:rPr>
              <a:t> </a:t>
            </a:r>
            <a:r>
              <a:rPr b="1">
                <a:latin typeface="Times New Roman"/>
                <a:cs typeface="Times New Roman"/>
              </a:rPr>
              <a:t>model</a:t>
            </a:r>
            <a:r>
              <a:rPr b="1" spc="-15">
                <a:latin typeface="Times New Roman"/>
                <a:cs typeface="Times New Roman"/>
              </a:rPr>
              <a:t> </a:t>
            </a:r>
            <a:r>
              <a:t>within</a:t>
            </a:r>
            <a:r>
              <a:rPr spc="-55"/>
              <a:t> </a:t>
            </a:r>
            <a:r>
              <a:t>HR</a:t>
            </a:r>
            <a:r>
              <a:rPr spc="-10"/>
              <a:t> </a:t>
            </a:r>
            <a:r>
              <a:t>systems</a:t>
            </a:r>
            <a:r>
              <a:rPr spc="-55"/>
              <a:t> </a:t>
            </a:r>
            <a:r>
              <a:t>to</a:t>
            </a:r>
            <a:r>
              <a:rPr spc="-10"/>
              <a:t> </a:t>
            </a:r>
            <a:r>
              <a:t>identify </a:t>
            </a:r>
            <a:r>
              <a:rPr spc="-10"/>
              <a:t>at-</a:t>
            </a:r>
            <a:r>
              <a:t>risk</a:t>
            </a:r>
            <a:r>
              <a:rPr spc="-65"/>
              <a:t> </a:t>
            </a:r>
            <a:r>
              <a:t>employees</a:t>
            </a:r>
            <a:r>
              <a:rPr spc="-60"/>
              <a:t> </a:t>
            </a:r>
            <a:r>
              <a:t>early</a:t>
            </a:r>
            <a:r>
              <a:rPr spc="-45"/>
              <a:t> </a:t>
            </a:r>
            <a:r>
              <a:t>and</a:t>
            </a:r>
            <a:r>
              <a:rPr spc="-25"/>
              <a:t> </a:t>
            </a:r>
            <a:r>
              <a:rPr spc="-10"/>
              <a:t>enable</a:t>
            </a: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t>proactive</a:t>
            </a:r>
            <a:r>
              <a:rPr spc="-50"/>
              <a:t> </a:t>
            </a:r>
            <a:r>
              <a:t>retention</a:t>
            </a:r>
            <a:r>
              <a:rPr spc="-50"/>
              <a:t> </a:t>
            </a:r>
            <a:r>
              <a:rPr spc="-10"/>
              <a:t>efforts.</a:t>
            </a:r>
          </a:p>
          <a:p>
            <a:pPr marL="355600" indent="-342900">
              <a:lnSpc>
                <a:spcPct val="100000"/>
              </a:lnSpc>
              <a:spcBef>
                <a:spcPts val="1805"/>
              </a:spcBef>
              <a:buSzPct val="92500"/>
              <a:buFont typeface="Arial MT"/>
              <a:buChar char="•"/>
              <a:tabLst>
                <a:tab pos="355600" algn="l"/>
              </a:tabLst>
            </a:pPr>
            <a:r>
              <a:rPr b="1">
                <a:latin typeface="Times New Roman"/>
                <a:cs typeface="Times New Roman"/>
              </a:rPr>
              <a:t>Address</a:t>
            </a:r>
            <a:r>
              <a:rPr b="1" spc="-25">
                <a:latin typeface="Times New Roman"/>
                <a:cs typeface="Times New Roman"/>
              </a:rPr>
              <a:t> </a:t>
            </a:r>
            <a:r>
              <a:rPr b="1">
                <a:latin typeface="Times New Roman"/>
                <a:cs typeface="Times New Roman"/>
              </a:rPr>
              <a:t>key</a:t>
            </a:r>
            <a:r>
              <a:rPr b="1" spc="-55">
                <a:latin typeface="Times New Roman"/>
                <a:cs typeface="Times New Roman"/>
              </a:rPr>
              <a:t> </a:t>
            </a:r>
            <a:r>
              <a:rPr b="1">
                <a:latin typeface="Times New Roman"/>
                <a:cs typeface="Times New Roman"/>
              </a:rPr>
              <a:t>risk</a:t>
            </a:r>
            <a:r>
              <a:rPr b="1" spc="-65">
                <a:latin typeface="Times New Roman"/>
                <a:cs typeface="Times New Roman"/>
              </a:rPr>
              <a:t> </a:t>
            </a:r>
            <a:r>
              <a:rPr b="1">
                <a:latin typeface="Times New Roman"/>
                <a:cs typeface="Times New Roman"/>
              </a:rPr>
              <a:t>factors</a:t>
            </a:r>
            <a:r>
              <a:rPr b="1" spc="-35">
                <a:latin typeface="Times New Roman"/>
                <a:cs typeface="Times New Roman"/>
              </a:rPr>
              <a:t> </a:t>
            </a:r>
            <a:r>
              <a:t>by</a:t>
            </a:r>
            <a:r>
              <a:rPr spc="-5"/>
              <a:t> </a:t>
            </a:r>
            <a:r>
              <a:t>reducing</a:t>
            </a:r>
            <a:r>
              <a:rPr spc="-35"/>
              <a:t> </a:t>
            </a:r>
            <a:r>
              <a:t>overtime</a:t>
            </a:r>
            <a:r>
              <a:rPr spc="-55"/>
              <a:t> </a:t>
            </a:r>
            <a:r>
              <a:t>workload,</a:t>
            </a:r>
            <a:r>
              <a:rPr spc="-25"/>
              <a:t> </a:t>
            </a:r>
            <a:r>
              <a:t>improving</a:t>
            </a:r>
            <a:r>
              <a:rPr spc="-75"/>
              <a:t> </a:t>
            </a:r>
            <a:r>
              <a:t>promotion</a:t>
            </a:r>
            <a:r>
              <a:rPr spc="-55"/>
              <a:t> </a:t>
            </a:r>
            <a:r>
              <a:t>pathways,</a:t>
            </a:r>
            <a:r>
              <a:rPr spc="-25"/>
              <a:t> </a:t>
            </a:r>
            <a:r>
              <a:t>and</a:t>
            </a:r>
            <a:r>
              <a:rPr spc="-20"/>
              <a:t> </a:t>
            </a:r>
            <a:r>
              <a:rPr spc="-10"/>
              <a:t>adjusting</a:t>
            </a:r>
          </a:p>
          <a:p>
            <a:pPr marL="355600">
              <a:lnSpc>
                <a:spcPct val="100000"/>
              </a:lnSpc>
            </a:pPr>
            <a:r>
              <a:t>compensation</a:t>
            </a:r>
            <a:r>
              <a:rPr spc="-70"/>
              <a:t> </a:t>
            </a:r>
            <a:r>
              <a:t>for</a:t>
            </a:r>
            <a:r>
              <a:rPr spc="-25"/>
              <a:t> </a:t>
            </a:r>
            <a:r>
              <a:t>vulnerable</a:t>
            </a:r>
            <a:r>
              <a:rPr spc="-75"/>
              <a:t> </a:t>
            </a:r>
            <a:r>
              <a:rPr spc="-10"/>
              <a:t>groups.</a:t>
            </a:r>
          </a:p>
          <a:p>
            <a:pPr marL="355600" marR="5080" indent="-343535">
              <a:lnSpc>
                <a:spcPct val="100000"/>
              </a:lnSpc>
              <a:spcBef>
                <a:spcPts val="1810"/>
              </a:spcBef>
              <a:buSzPct val="92500"/>
              <a:buFont typeface="Arial MT"/>
              <a:buChar char="•"/>
              <a:tabLst>
                <a:tab pos="355600" algn="l"/>
              </a:tabLst>
            </a:pPr>
            <a:r>
              <a:rPr b="1">
                <a:latin typeface="Times New Roman"/>
                <a:cs typeface="Times New Roman"/>
              </a:rPr>
              <a:t>Strengthen</a:t>
            </a:r>
            <a:r>
              <a:rPr b="1" spc="-40">
                <a:latin typeface="Times New Roman"/>
                <a:cs typeface="Times New Roman"/>
              </a:rPr>
              <a:t> </a:t>
            </a:r>
            <a:r>
              <a:rPr b="1">
                <a:latin typeface="Times New Roman"/>
                <a:cs typeface="Times New Roman"/>
              </a:rPr>
              <a:t>manager–employee</a:t>
            </a:r>
            <a:r>
              <a:rPr b="1" spc="-70">
                <a:latin typeface="Times New Roman"/>
                <a:cs typeface="Times New Roman"/>
              </a:rPr>
              <a:t> </a:t>
            </a:r>
            <a:r>
              <a:rPr b="1">
                <a:latin typeface="Times New Roman"/>
                <a:cs typeface="Times New Roman"/>
              </a:rPr>
              <a:t>relationships</a:t>
            </a:r>
            <a:r>
              <a:rPr b="1" spc="-35">
                <a:latin typeface="Times New Roman"/>
                <a:cs typeface="Times New Roman"/>
              </a:rPr>
              <a:t> </a:t>
            </a:r>
            <a:r>
              <a:t>through</a:t>
            </a:r>
            <a:r>
              <a:rPr spc="-70"/>
              <a:t> </a:t>
            </a:r>
            <a:r>
              <a:t>leadership</a:t>
            </a:r>
            <a:r>
              <a:rPr spc="-35"/>
              <a:t> </a:t>
            </a:r>
            <a:r>
              <a:t>training</a:t>
            </a:r>
            <a:r>
              <a:rPr spc="-25"/>
              <a:t> </a:t>
            </a:r>
            <a:r>
              <a:t>and</a:t>
            </a:r>
            <a:r>
              <a:rPr spc="-30"/>
              <a:t> </a:t>
            </a:r>
            <a:r>
              <a:t>consistent</a:t>
            </a:r>
            <a:r>
              <a:rPr spc="-50"/>
              <a:t> </a:t>
            </a:r>
            <a:r>
              <a:rPr spc="-10"/>
              <a:t>check-</a:t>
            </a:r>
            <a:r>
              <a:t>ins,</a:t>
            </a:r>
            <a:r>
              <a:rPr spc="-30"/>
              <a:t> </a:t>
            </a:r>
            <a:r>
              <a:t>as</a:t>
            </a:r>
            <a:r>
              <a:rPr spc="-55"/>
              <a:t> </a:t>
            </a:r>
            <a:r>
              <a:rPr spc="-20"/>
              <a:t>this </a:t>
            </a:r>
            <a:r>
              <a:t>is</a:t>
            </a:r>
            <a:r>
              <a:rPr spc="-5"/>
              <a:t> </a:t>
            </a:r>
            <a:r>
              <a:t>one</a:t>
            </a:r>
            <a:r>
              <a:rPr spc="-50"/>
              <a:t> </a:t>
            </a:r>
            <a:r>
              <a:t>of the</a:t>
            </a:r>
            <a:r>
              <a:rPr spc="-45"/>
              <a:t> </a:t>
            </a:r>
            <a:r>
              <a:t>strongest</a:t>
            </a:r>
            <a:r>
              <a:rPr spc="-40"/>
              <a:t> </a:t>
            </a:r>
            <a:r>
              <a:t>predictors</a:t>
            </a:r>
            <a:r>
              <a:rPr spc="-35"/>
              <a:t> </a:t>
            </a:r>
            <a:r>
              <a:t>of </a:t>
            </a:r>
            <a:r>
              <a:rPr spc="-10"/>
              <a:t>retention.</a:t>
            </a:r>
          </a:p>
          <a:p>
            <a:pPr marL="355600" indent="-342900">
              <a:lnSpc>
                <a:spcPct val="100000"/>
              </a:lnSpc>
              <a:spcBef>
                <a:spcPts val="1805"/>
              </a:spcBef>
              <a:buSzPct val="92500"/>
              <a:buFont typeface="Arial MT"/>
              <a:buChar char="•"/>
              <a:tabLst>
                <a:tab pos="355600" algn="l"/>
              </a:tabLst>
            </a:pPr>
            <a:r>
              <a:rPr b="1">
                <a:latin typeface="Times New Roman"/>
                <a:cs typeface="Times New Roman"/>
              </a:rPr>
              <a:t>Model</a:t>
            </a:r>
            <a:r>
              <a:rPr b="1" spc="-25">
                <a:latin typeface="Times New Roman"/>
                <a:cs typeface="Times New Roman"/>
              </a:rPr>
              <a:t> </a:t>
            </a:r>
            <a:r>
              <a:rPr b="1">
                <a:latin typeface="Times New Roman"/>
                <a:cs typeface="Times New Roman"/>
              </a:rPr>
              <a:t>provides</a:t>
            </a:r>
            <a:r>
              <a:rPr b="1" spc="-5">
                <a:latin typeface="Times New Roman"/>
                <a:cs typeface="Times New Roman"/>
              </a:rPr>
              <a:t> </a:t>
            </a:r>
            <a:r>
              <a:rPr b="1">
                <a:latin typeface="Times New Roman"/>
                <a:cs typeface="Times New Roman"/>
              </a:rPr>
              <a:t>early</a:t>
            </a:r>
            <a:r>
              <a:rPr b="1" spc="-15">
                <a:latin typeface="Times New Roman"/>
                <a:cs typeface="Times New Roman"/>
              </a:rPr>
              <a:t> </a:t>
            </a:r>
            <a:r>
              <a:rPr b="1">
                <a:latin typeface="Times New Roman"/>
                <a:cs typeface="Times New Roman"/>
              </a:rPr>
              <a:t>prediction</a:t>
            </a:r>
            <a:r>
              <a:rPr b="1" spc="-45">
                <a:latin typeface="Times New Roman"/>
                <a:cs typeface="Times New Roman"/>
              </a:rPr>
              <a:t> </a:t>
            </a:r>
            <a:r>
              <a:t>into</a:t>
            </a:r>
            <a:r>
              <a:rPr spc="-40"/>
              <a:t> </a:t>
            </a:r>
            <a:r>
              <a:t>workforce</a:t>
            </a:r>
            <a:r>
              <a:rPr spc="-65"/>
              <a:t> </a:t>
            </a:r>
            <a:r>
              <a:t>risks,</a:t>
            </a:r>
            <a:r>
              <a:rPr spc="-30"/>
              <a:t> </a:t>
            </a:r>
            <a:r>
              <a:t>improving</a:t>
            </a:r>
            <a:r>
              <a:rPr spc="-65"/>
              <a:t> </a:t>
            </a:r>
            <a:r>
              <a:t>HR</a:t>
            </a:r>
            <a:r>
              <a:rPr spc="-15"/>
              <a:t> </a:t>
            </a:r>
            <a:r>
              <a:rPr spc="-10"/>
              <a:t>decision-making.</a:t>
            </a:r>
          </a:p>
          <a:p>
            <a:pPr marL="298450" indent="-285750">
              <a:lnSpc>
                <a:spcPct val="100000"/>
              </a:lnSpc>
              <a:spcBef>
                <a:spcPts val="1810"/>
              </a:spcBef>
              <a:buSzPct val="92500"/>
              <a:buFont typeface="Arial MT"/>
              <a:buChar char="•"/>
              <a:tabLst>
                <a:tab pos="298450" algn="l"/>
              </a:tabLst>
            </a:pPr>
            <a:r>
              <a:rPr b="1">
                <a:latin typeface="Times New Roman"/>
                <a:cs typeface="Times New Roman"/>
              </a:rPr>
              <a:t>Strengthens</a:t>
            </a:r>
            <a:r>
              <a:rPr b="1" spc="-65">
                <a:latin typeface="Times New Roman"/>
                <a:cs typeface="Times New Roman"/>
              </a:rPr>
              <a:t> </a:t>
            </a:r>
            <a:r>
              <a:rPr b="1">
                <a:latin typeface="Times New Roman"/>
                <a:cs typeface="Times New Roman"/>
              </a:rPr>
              <a:t>workforce</a:t>
            </a:r>
            <a:r>
              <a:rPr b="1" spc="-25">
                <a:latin typeface="Times New Roman"/>
                <a:cs typeface="Times New Roman"/>
              </a:rPr>
              <a:t> </a:t>
            </a:r>
            <a:r>
              <a:rPr b="1">
                <a:latin typeface="Times New Roman"/>
                <a:cs typeface="Times New Roman"/>
              </a:rPr>
              <a:t>stability</a:t>
            </a:r>
            <a:r>
              <a:t>,</a:t>
            </a:r>
            <a:r>
              <a:rPr spc="-45"/>
              <a:t> </a:t>
            </a:r>
            <a:r>
              <a:t>reducing</a:t>
            </a:r>
            <a:r>
              <a:rPr spc="-65"/>
              <a:t> </a:t>
            </a:r>
            <a:r>
              <a:t>operational</a:t>
            </a:r>
            <a:r>
              <a:rPr spc="-15"/>
              <a:t> </a:t>
            </a:r>
            <a:r>
              <a:t>disruptions</a:t>
            </a:r>
            <a:r>
              <a:rPr spc="-75"/>
              <a:t> </a:t>
            </a:r>
            <a:r>
              <a:t>and</a:t>
            </a:r>
            <a:r>
              <a:rPr spc="-40"/>
              <a:t> </a:t>
            </a:r>
            <a:r>
              <a:t>lowering</a:t>
            </a:r>
            <a:r>
              <a:rPr spc="-35"/>
              <a:t> </a:t>
            </a:r>
            <a:r>
              <a:rPr spc="-10"/>
              <a:t>turnover-</a:t>
            </a:r>
            <a:r>
              <a:t>related</a:t>
            </a:r>
            <a:r>
              <a:rPr spc="-45"/>
              <a:t> </a:t>
            </a:r>
            <a:r>
              <a:rPr spc="-10"/>
              <a:t>costs.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8580B-BA04-890D-C8D3-8F8D0A359FD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20200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91825" y="6400800"/>
              <a:ext cx="923925" cy="1714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0525" y="6162675"/>
              <a:ext cx="1285875" cy="457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62375" y="2790698"/>
              <a:ext cx="4719701" cy="178600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58945" y="3019742"/>
            <a:ext cx="3684904" cy="9982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350" i="1" spc="-10">
                <a:solidFill>
                  <a:srgbClr val="ECEDEE"/>
                </a:solidFill>
                <a:latin typeface="Times New Roman"/>
                <a:cs typeface="Times New Roman"/>
              </a:rPr>
              <a:t>Questions!</a:t>
            </a:r>
            <a:endParaRPr sz="6350">
              <a:latin typeface="Times New Roman"/>
              <a:cs typeface="Times New Roman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68A68D4-80D0-5DBC-2AC9-731C5E844EB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20200" y="6444438"/>
            <a:ext cx="2804160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Predictive Modeling in Employee Attrition</vt:lpstr>
      <vt:lpstr>Team Introduction</vt:lpstr>
      <vt:lpstr>Problem Motivation</vt:lpstr>
      <vt:lpstr>Introduction &amp; Analytical Approach</vt:lpstr>
      <vt:lpstr>Datasets, Descriptive Statistics</vt:lpstr>
      <vt:lpstr>PowerPoint Presentation</vt:lpstr>
      <vt:lpstr>Data Pre-processing &amp; Exploratory Data Analysis</vt:lpstr>
      <vt:lpstr>Data Pre-processing &amp; Exploratory Data Analysis</vt:lpstr>
      <vt:lpstr>PowerPoint Presentation</vt:lpstr>
      <vt:lpstr>Machine Learning Models</vt:lpstr>
      <vt:lpstr>Machine Learning Models Comparison</vt:lpstr>
      <vt:lpstr>Machine Learning Models Comparison</vt:lpstr>
      <vt:lpstr>Machine Learning Models Comparison</vt:lpstr>
      <vt:lpstr>Why Logistic Regression WINS</vt:lpstr>
      <vt:lpstr>MODEL PERFORMANCE IMPROVEMENTS</vt:lpstr>
      <vt:lpstr>Modeling Strategy &amp; Experiments</vt:lpstr>
      <vt:lpstr>Evaluation Analysis Tested 5 ML models with SMOTE to validate Logistic Regression as the best choice</vt:lpstr>
      <vt:lpstr>Performance Metrics comparison</vt:lpstr>
      <vt:lpstr>Confusion Matrix Comparison</vt:lpstr>
      <vt:lpstr>Key Findings &amp; Business Impact</vt:lpstr>
      <vt:lpstr>Key Findings and Business Impact</vt:lpstr>
      <vt:lpstr>Recommendation &amp; Conclusion</vt:lpstr>
      <vt:lpstr>Questions!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2025-12-06T04:03:22Z</dcterms:created>
  <dcterms:modified xsi:type="dcterms:W3CDTF">2025-12-10T02:31:15Z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2025-12-05T00:00:00Z</vt:filetime>
  </property>
  <property fmtid="{D5CDD505-2E9C-101B-9397-08002B2CF9AE}" pid="3" name="LastSaved">
    <vt:filetime>2025-12-06T00:00:00Z</vt:filetime>
  </property>
</Properties>
</file>